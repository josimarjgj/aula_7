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9" r:id="rId4"/>
    <p:sldId id="284" r:id="rId5"/>
    <p:sldId id="278" r:id="rId6"/>
    <p:sldId id="257" r:id="rId7"/>
    <p:sldId id="276" r:id="rId8"/>
    <p:sldId id="274" r:id="rId9"/>
    <p:sldId id="266" r:id="rId10"/>
    <p:sldId id="263" r:id="rId11"/>
    <p:sldId id="267" r:id="rId12"/>
    <p:sldId id="269" r:id="rId13"/>
    <p:sldId id="281" r:id="rId14"/>
    <p:sldId id="280" r:id="rId15"/>
    <p:sldId id="273" r:id="rId16"/>
    <p:sldId id="271" r:id="rId17"/>
    <p:sldId id="283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1AE1B7-A761-4EAA-877A-B7AA926820C9}" v="804" dt="2025-12-10T11:03:10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4D9FDA-D69C-4669-A76C-10B17504F91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9D35B96-063B-4099-891B-5BD1AF33D82B}">
      <dgm:prSet/>
      <dgm:spPr/>
      <dgm:t>
        <a:bodyPr/>
        <a:lstStyle/>
        <a:p>
          <a:r>
            <a:rPr lang="en-US" dirty="0"/>
            <a:t>Plano de Aula</a:t>
          </a:r>
        </a:p>
      </dgm:t>
    </dgm:pt>
    <dgm:pt modelId="{73E5BFA1-E755-4512-B780-1BE241A24605}" type="parTrans" cxnId="{C231C2D3-C677-46AE-ACCF-7C880E413A7C}">
      <dgm:prSet/>
      <dgm:spPr/>
      <dgm:t>
        <a:bodyPr/>
        <a:lstStyle/>
        <a:p>
          <a:endParaRPr lang="en-US"/>
        </a:p>
      </dgm:t>
    </dgm:pt>
    <dgm:pt modelId="{8D3EF791-3472-4BEF-8055-0C68F9B4EAED}" type="sibTrans" cxnId="{C231C2D3-C677-46AE-ACCF-7C880E413A7C}">
      <dgm:prSet/>
      <dgm:spPr/>
      <dgm:t>
        <a:bodyPr/>
        <a:lstStyle/>
        <a:p>
          <a:endParaRPr lang="en-US"/>
        </a:p>
      </dgm:t>
    </dgm:pt>
    <dgm:pt modelId="{E505FEFA-C852-4202-9886-F265987110FC}">
      <dgm:prSet/>
      <dgm:spPr/>
      <dgm:t>
        <a:bodyPr/>
        <a:lstStyle/>
        <a:p>
          <a:r>
            <a:rPr lang="pt-BR" dirty="0"/>
            <a:t>Curvas de Concentração e Razão de Concentração</a:t>
          </a:r>
          <a:endParaRPr lang="en-US" dirty="0"/>
        </a:p>
      </dgm:t>
    </dgm:pt>
    <dgm:pt modelId="{9F02148B-B004-449B-9FC2-C66DE4DCE694}" type="parTrans" cxnId="{0A2A10B6-4B24-4868-9ED4-B833708446FC}">
      <dgm:prSet/>
      <dgm:spPr/>
      <dgm:t>
        <a:bodyPr/>
        <a:lstStyle/>
        <a:p>
          <a:endParaRPr lang="en-US"/>
        </a:p>
      </dgm:t>
    </dgm:pt>
    <dgm:pt modelId="{FA527B0A-5452-423D-AD10-D83E49F0ECAD}" type="sibTrans" cxnId="{0A2A10B6-4B24-4868-9ED4-B833708446FC}">
      <dgm:prSet/>
      <dgm:spPr/>
      <dgm:t>
        <a:bodyPr/>
        <a:lstStyle/>
        <a:p>
          <a:endParaRPr lang="en-US"/>
        </a:p>
      </dgm:t>
    </dgm:pt>
    <dgm:pt modelId="{F6780FF5-3C84-4ADC-96C0-5E7A84242FD9}">
      <dgm:prSet/>
      <dgm:spPr/>
      <dgm:t>
        <a:bodyPr/>
        <a:lstStyle/>
        <a:p>
          <a:r>
            <a:rPr lang="pt-BR" dirty="0"/>
            <a:t>Decomposição do Índice de Gini</a:t>
          </a:r>
          <a:endParaRPr lang="en-US" dirty="0"/>
        </a:p>
      </dgm:t>
    </dgm:pt>
    <dgm:pt modelId="{CB805378-1397-44A0-A610-2EAC2D4A3987}" type="parTrans" cxnId="{5427BB70-3CED-471B-8E1B-08CFABD6D29F}">
      <dgm:prSet/>
      <dgm:spPr/>
      <dgm:t>
        <a:bodyPr/>
        <a:lstStyle/>
        <a:p>
          <a:endParaRPr lang="en-US"/>
        </a:p>
      </dgm:t>
    </dgm:pt>
    <dgm:pt modelId="{AC19AF2E-3774-4650-9200-231273C1406B}" type="sibTrans" cxnId="{5427BB70-3CED-471B-8E1B-08CFABD6D29F}">
      <dgm:prSet/>
      <dgm:spPr/>
      <dgm:t>
        <a:bodyPr/>
        <a:lstStyle/>
        <a:p>
          <a:endParaRPr lang="en-US"/>
        </a:p>
      </dgm:t>
    </dgm:pt>
    <dgm:pt modelId="{9F052B0B-858B-4963-B9E7-6027650DF935}">
      <dgm:prSet/>
      <dgm:spPr/>
      <dgm:t>
        <a:bodyPr/>
        <a:lstStyle/>
        <a:p>
          <a:r>
            <a:rPr lang="pt-BR" dirty="0"/>
            <a:t>Resultados para o Brasil</a:t>
          </a:r>
          <a:endParaRPr lang="en-US" dirty="0"/>
        </a:p>
      </dgm:t>
    </dgm:pt>
    <dgm:pt modelId="{54A9F4E2-1B8C-4D26-948D-E7D8982EBCA8}" type="parTrans" cxnId="{19A4D76B-0FC1-4970-8FE6-E09BB72DEB2A}">
      <dgm:prSet/>
      <dgm:spPr/>
      <dgm:t>
        <a:bodyPr/>
        <a:lstStyle/>
        <a:p>
          <a:endParaRPr lang="en-US"/>
        </a:p>
      </dgm:t>
    </dgm:pt>
    <dgm:pt modelId="{06A585BF-E00D-40FE-874B-3649A9361742}" type="sibTrans" cxnId="{19A4D76B-0FC1-4970-8FE6-E09BB72DEB2A}">
      <dgm:prSet/>
      <dgm:spPr/>
      <dgm:t>
        <a:bodyPr/>
        <a:lstStyle/>
        <a:p>
          <a:endParaRPr lang="en-US"/>
        </a:p>
      </dgm:t>
    </dgm:pt>
    <dgm:pt modelId="{479CD58E-116C-41C8-90B7-4F1CC68C5422}">
      <dgm:prSet/>
      <dgm:spPr/>
      <dgm:t>
        <a:bodyPr/>
        <a:lstStyle/>
        <a:p>
          <a:r>
            <a:rPr lang="en-US" i="1" dirty="0"/>
            <a:t>Spoilers</a:t>
          </a:r>
        </a:p>
      </dgm:t>
    </dgm:pt>
    <dgm:pt modelId="{987CCDE7-720D-43F4-8118-B141B8DC4A6D}" type="parTrans" cxnId="{2728726E-B05C-4A56-910C-1772F5FFFA32}">
      <dgm:prSet/>
      <dgm:spPr/>
      <dgm:t>
        <a:bodyPr/>
        <a:lstStyle/>
        <a:p>
          <a:endParaRPr lang="pt-BR"/>
        </a:p>
      </dgm:t>
    </dgm:pt>
    <dgm:pt modelId="{08729627-6260-481F-BD97-3BB042709229}" type="sibTrans" cxnId="{2728726E-B05C-4A56-910C-1772F5FFFA32}">
      <dgm:prSet/>
      <dgm:spPr/>
      <dgm:t>
        <a:bodyPr/>
        <a:lstStyle/>
        <a:p>
          <a:endParaRPr lang="pt-BR"/>
        </a:p>
      </dgm:t>
    </dgm:pt>
    <dgm:pt modelId="{065EC5F6-C050-40F3-88A7-89753EBDFC09}">
      <dgm:prSet/>
      <dgm:spPr/>
      <dgm:t>
        <a:bodyPr/>
        <a:lstStyle/>
        <a:p>
          <a:r>
            <a:rPr lang="pt-BR"/>
            <a:t>Motivação</a:t>
          </a:r>
          <a:endParaRPr lang="en-US" dirty="0"/>
        </a:p>
      </dgm:t>
    </dgm:pt>
    <dgm:pt modelId="{898B045E-DBBA-45D5-BC36-F7F7955825BC}" type="parTrans" cxnId="{6F32F19F-8760-4099-A0C2-2CD7A4452F58}">
      <dgm:prSet/>
      <dgm:spPr/>
      <dgm:t>
        <a:bodyPr/>
        <a:lstStyle/>
        <a:p>
          <a:endParaRPr lang="pt-BR"/>
        </a:p>
      </dgm:t>
    </dgm:pt>
    <dgm:pt modelId="{329D0D15-6263-409D-8A40-19856967CC03}" type="sibTrans" cxnId="{6F32F19F-8760-4099-A0C2-2CD7A4452F58}">
      <dgm:prSet/>
      <dgm:spPr/>
      <dgm:t>
        <a:bodyPr/>
        <a:lstStyle/>
        <a:p>
          <a:endParaRPr lang="pt-BR"/>
        </a:p>
      </dgm:t>
    </dgm:pt>
    <dgm:pt modelId="{84FA289D-2178-4A86-A806-0334050D5DC4}">
      <dgm:prSet/>
      <dgm:spPr/>
      <dgm:t>
        <a:bodyPr/>
        <a:lstStyle/>
        <a:p>
          <a:r>
            <a:rPr lang="en-US"/>
            <a:t>Breve Resumo</a:t>
          </a:r>
          <a:endParaRPr lang="en-US" dirty="0"/>
        </a:p>
      </dgm:t>
    </dgm:pt>
    <dgm:pt modelId="{BF23DCA1-3B07-42B0-9A9F-4197174A937F}" type="parTrans" cxnId="{710C9645-1894-4732-9A96-2C6F53F424A6}">
      <dgm:prSet/>
      <dgm:spPr/>
      <dgm:t>
        <a:bodyPr/>
        <a:lstStyle/>
        <a:p>
          <a:endParaRPr lang="pt-BR"/>
        </a:p>
      </dgm:t>
    </dgm:pt>
    <dgm:pt modelId="{5D5E3CDE-868A-41BF-B33A-85F2813D612D}" type="sibTrans" cxnId="{710C9645-1894-4732-9A96-2C6F53F424A6}">
      <dgm:prSet/>
      <dgm:spPr/>
      <dgm:t>
        <a:bodyPr/>
        <a:lstStyle/>
        <a:p>
          <a:endParaRPr lang="pt-BR"/>
        </a:p>
      </dgm:t>
    </dgm:pt>
    <dgm:pt modelId="{B808A339-557D-4260-83D6-B7EF5280C2EB}" type="pres">
      <dgm:prSet presAssocID="{864D9FDA-D69C-4669-A76C-10B17504F91D}" presName="linear" presStyleCnt="0">
        <dgm:presLayoutVars>
          <dgm:animLvl val="lvl"/>
          <dgm:resizeHandles val="exact"/>
        </dgm:presLayoutVars>
      </dgm:prSet>
      <dgm:spPr/>
    </dgm:pt>
    <dgm:pt modelId="{90270C8B-BCD9-4394-A4C3-57097AC0BCC5}" type="pres">
      <dgm:prSet presAssocID="{D9D35B96-063B-4099-891B-5BD1AF33D82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E690F85F-6688-4B5C-8EB6-0968F29F1686}" type="pres">
      <dgm:prSet presAssocID="{8D3EF791-3472-4BEF-8055-0C68F9B4EAED}" presName="spacer" presStyleCnt="0"/>
      <dgm:spPr/>
    </dgm:pt>
    <dgm:pt modelId="{6B37A1E5-C617-4EBE-9EAC-5D393ED58D64}" type="pres">
      <dgm:prSet presAssocID="{84FA289D-2178-4A86-A806-0334050D5DC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50E1BEB-4091-405E-8C78-021DCB93B63E}" type="pres">
      <dgm:prSet presAssocID="{5D5E3CDE-868A-41BF-B33A-85F2813D612D}" presName="spacer" presStyleCnt="0"/>
      <dgm:spPr/>
    </dgm:pt>
    <dgm:pt modelId="{1C43343B-6DE0-4B70-AA70-DB6AD0E00198}" type="pres">
      <dgm:prSet presAssocID="{065EC5F6-C050-40F3-88A7-89753EBDFC09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7E26AF2-204C-4CD3-AF30-FD9D61F883D5}" type="pres">
      <dgm:prSet presAssocID="{329D0D15-6263-409D-8A40-19856967CC03}" presName="spacer" presStyleCnt="0"/>
      <dgm:spPr/>
    </dgm:pt>
    <dgm:pt modelId="{83F363AF-DC28-4925-A669-642BAFE74D5B}" type="pres">
      <dgm:prSet presAssocID="{E505FEFA-C852-4202-9886-F265987110FC}" presName="parentText" presStyleLbl="node1" presStyleIdx="3" presStyleCnt="7" custLinFactNeighborY="70150">
        <dgm:presLayoutVars>
          <dgm:chMax val="0"/>
          <dgm:bulletEnabled val="1"/>
        </dgm:presLayoutVars>
      </dgm:prSet>
      <dgm:spPr/>
    </dgm:pt>
    <dgm:pt modelId="{BC8C8604-8AD8-47C5-9081-F890E7F29EDF}" type="pres">
      <dgm:prSet presAssocID="{FA527B0A-5452-423D-AD10-D83E49F0ECAD}" presName="spacer" presStyleCnt="0"/>
      <dgm:spPr/>
    </dgm:pt>
    <dgm:pt modelId="{5E3E7177-6018-4127-91C8-98F31E603BAC}" type="pres">
      <dgm:prSet presAssocID="{F6780FF5-3C84-4ADC-96C0-5E7A84242FD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83C9948-7614-4A49-AFDB-F3B9CEAA190E}" type="pres">
      <dgm:prSet presAssocID="{AC19AF2E-3774-4650-9200-231273C1406B}" presName="spacer" presStyleCnt="0"/>
      <dgm:spPr/>
    </dgm:pt>
    <dgm:pt modelId="{F9A8AE34-B6BE-47FE-8D59-9FCC36ED15E4}" type="pres">
      <dgm:prSet presAssocID="{9F052B0B-858B-4963-B9E7-6027650DF93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B7002982-436B-4E1C-9346-FFD02A3638ED}" type="pres">
      <dgm:prSet presAssocID="{06A585BF-E00D-40FE-874B-3649A9361742}" presName="spacer" presStyleCnt="0"/>
      <dgm:spPr/>
    </dgm:pt>
    <dgm:pt modelId="{A4666421-6623-4E7C-9D3F-B4E01E6D46E1}" type="pres">
      <dgm:prSet presAssocID="{479CD58E-116C-41C8-90B7-4F1CC68C5422}" presName="parentText" presStyleLbl="node1" presStyleIdx="6" presStyleCnt="7" custLinFactNeighborX="-2954" custLinFactNeighborY="5418">
        <dgm:presLayoutVars>
          <dgm:chMax val="0"/>
          <dgm:bulletEnabled val="1"/>
        </dgm:presLayoutVars>
      </dgm:prSet>
      <dgm:spPr/>
    </dgm:pt>
  </dgm:ptLst>
  <dgm:cxnLst>
    <dgm:cxn modelId="{7E61F85D-6458-42EC-9F51-01395C57CA8B}" type="presOf" srcId="{F6780FF5-3C84-4ADC-96C0-5E7A84242FD9}" destId="{5E3E7177-6018-4127-91C8-98F31E603BAC}" srcOrd="0" destOrd="0" presId="urn:microsoft.com/office/officeart/2005/8/layout/vList2"/>
    <dgm:cxn modelId="{710C9645-1894-4732-9A96-2C6F53F424A6}" srcId="{864D9FDA-D69C-4669-A76C-10B17504F91D}" destId="{84FA289D-2178-4A86-A806-0334050D5DC4}" srcOrd="1" destOrd="0" parTransId="{BF23DCA1-3B07-42B0-9A9F-4197174A937F}" sibTransId="{5D5E3CDE-868A-41BF-B33A-85F2813D612D}"/>
    <dgm:cxn modelId="{CBB4FF6A-2754-4384-870A-02422FC4D99B}" type="presOf" srcId="{9F052B0B-858B-4963-B9E7-6027650DF935}" destId="{F9A8AE34-B6BE-47FE-8D59-9FCC36ED15E4}" srcOrd="0" destOrd="0" presId="urn:microsoft.com/office/officeart/2005/8/layout/vList2"/>
    <dgm:cxn modelId="{19A4D76B-0FC1-4970-8FE6-E09BB72DEB2A}" srcId="{864D9FDA-D69C-4669-A76C-10B17504F91D}" destId="{9F052B0B-858B-4963-B9E7-6027650DF935}" srcOrd="5" destOrd="0" parTransId="{54A9F4E2-1B8C-4D26-948D-E7D8982EBCA8}" sibTransId="{06A585BF-E00D-40FE-874B-3649A9361742}"/>
    <dgm:cxn modelId="{2728726E-B05C-4A56-910C-1772F5FFFA32}" srcId="{864D9FDA-D69C-4669-A76C-10B17504F91D}" destId="{479CD58E-116C-41C8-90B7-4F1CC68C5422}" srcOrd="6" destOrd="0" parTransId="{987CCDE7-720D-43F4-8118-B141B8DC4A6D}" sibTransId="{08729627-6260-481F-BD97-3BB042709229}"/>
    <dgm:cxn modelId="{5427BB70-3CED-471B-8E1B-08CFABD6D29F}" srcId="{864D9FDA-D69C-4669-A76C-10B17504F91D}" destId="{F6780FF5-3C84-4ADC-96C0-5E7A84242FD9}" srcOrd="4" destOrd="0" parTransId="{CB805378-1397-44A0-A610-2EAC2D4A3987}" sibTransId="{AC19AF2E-3774-4650-9200-231273C1406B}"/>
    <dgm:cxn modelId="{9ABFF38F-5226-48CE-B1B0-4DCC30869708}" type="presOf" srcId="{D9D35B96-063B-4099-891B-5BD1AF33D82B}" destId="{90270C8B-BCD9-4394-A4C3-57097AC0BCC5}" srcOrd="0" destOrd="0" presId="urn:microsoft.com/office/officeart/2005/8/layout/vList2"/>
    <dgm:cxn modelId="{6F32F19F-8760-4099-A0C2-2CD7A4452F58}" srcId="{864D9FDA-D69C-4669-A76C-10B17504F91D}" destId="{065EC5F6-C050-40F3-88A7-89753EBDFC09}" srcOrd="2" destOrd="0" parTransId="{898B045E-DBBA-45D5-BC36-F7F7955825BC}" sibTransId="{329D0D15-6263-409D-8A40-19856967CC03}"/>
    <dgm:cxn modelId="{FE8266AC-2A50-4023-822C-677E10CA8C43}" type="presOf" srcId="{E505FEFA-C852-4202-9886-F265987110FC}" destId="{83F363AF-DC28-4925-A669-642BAFE74D5B}" srcOrd="0" destOrd="0" presId="urn:microsoft.com/office/officeart/2005/8/layout/vList2"/>
    <dgm:cxn modelId="{0A2A10B6-4B24-4868-9ED4-B833708446FC}" srcId="{864D9FDA-D69C-4669-A76C-10B17504F91D}" destId="{E505FEFA-C852-4202-9886-F265987110FC}" srcOrd="3" destOrd="0" parTransId="{9F02148B-B004-449B-9FC2-C66DE4DCE694}" sibTransId="{FA527B0A-5452-423D-AD10-D83E49F0ECAD}"/>
    <dgm:cxn modelId="{C8FA7EC0-05F9-49A3-AAAB-EB15515EA9A1}" type="presOf" srcId="{065EC5F6-C050-40F3-88A7-89753EBDFC09}" destId="{1C43343B-6DE0-4B70-AA70-DB6AD0E00198}" srcOrd="0" destOrd="0" presId="urn:microsoft.com/office/officeart/2005/8/layout/vList2"/>
    <dgm:cxn modelId="{C231C2D3-C677-46AE-ACCF-7C880E413A7C}" srcId="{864D9FDA-D69C-4669-A76C-10B17504F91D}" destId="{D9D35B96-063B-4099-891B-5BD1AF33D82B}" srcOrd="0" destOrd="0" parTransId="{73E5BFA1-E755-4512-B780-1BE241A24605}" sibTransId="{8D3EF791-3472-4BEF-8055-0C68F9B4EAED}"/>
    <dgm:cxn modelId="{817CEDE0-5EA9-4043-ABE0-A7A550C5AC09}" type="presOf" srcId="{84FA289D-2178-4A86-A806-0334050D5DC4}" destId="{6B37A1E5-C617-4EBE-9EAC-5D393ED58D64}" srcOrd="0" destOrd="0" presId="urn:microsoft.com/office/officeart/2005/8/layout/vList2"/>
    <dgm:cxn modelId="{A59BC6F2-DC97-40DB-835F-52D81404D29E}" type="presOf" srcId="{479CD58E-116C-41C8-90B7-4F1CC68C5422}" destId="{A4666421-6623-4E7C-9D3F-B4E01E6D46E1}" srcOrd="0" destOrd="0" presId="urn:microsoft.com/office/officeart/2005/8/layout/vList2"/>
    <dgm:cxn modelId="{123EAAFD-032E-42E6-A3A7-C287AE8F2926}" type="presOf" srcId="{864D9FDA-D69C-4669-A76C-10B17504F91D}" destId="{B808A339-557D-4260-83D6-B7EF5280C2EB}" srcOrd="0" destOrd="0" presId="urn:microsoft.com/office/officeart/2005/8/layout/vList2"/>
    <dgm:cxn modelId="{C5307D61-0E36-4F76-84BE-102074FEAD6E}" type="presParOf" srcId="{B808A339-557D-4260-83D6-B7EF5280C2EB}" destId="{90270C8B-BCD9-4394-A4C3-57097AC0BCC5}" srcOrd="0" destOrd="0" presId="urn:microsoft.com/office/officeart/2005/8/layout/vList2"/>
    <dgm:cxn modelId="{75506E72-4223-4E22-9D76-FAF96746C19E}" type="presParOf" srcId="{B808A339-557D-4260-83D6-B7EF5280C2EB}" destId="{E690F85F-6688-4B5C-8EB6-0968F29F1686}" srcOrd="1" destOrd="0" presId="urn:microsoft.com/office/officeart/2005/8/layout/vList2"/>
    <dgm:cxn modelId="{70345493-8CDF-408C-9629-9E2A82AD3A5E}" type="presParOf" srcId="{B808A339-557D-4260-83D6-B7EF5280C2EB}" destId="{6B37A1E5-C617-4EBE-9EAC-5D393ED58D64}" srcOrd="2" destOrd="0" presId="urn:microsoft.com/office/officeart/2005/8/layout/vList2"/>
    <dgm:cxn modelId="{BA6CAA89-42E1-4B94-B894-15C06D180FE8}" type="presParOf" srcId="{B808A339-557D-4260-83D6-B7EF5280C2EB}" destId="{A50E1BEB-4091-405E-8C78-021DCB93B63E}" srcOrd="3" destOrd="0" presId="urn:microsoft.com/office/officeart/2005/8/layout/vList2"/>
    <dgm:cxn modelId="{77A96B1E-320D-434C-BFF2-46B4F526AF2B}" type="presParOf" srcId="{B808A339-557D-4260-83D6-B7EF5280C2EB}" destId="{1C43343B-6DE0-4B70-AA70-DB6AD0E00198}" srcOrd="4" destOrd="0" presId="urn:microsoft.com/office/officeart/2005/8/layout/vList2"/>
    <dgm:cxn modelId="{36988F1A-5D54-461E-A605-2DF3B4765983}" type="presParOf" srcId="{B808A339-557D-4260-83D6-B7EF5280C2EB}" destId="{87E26AF2-204C-4CD3-AF30-FD9D61F883D5}" srcOrd="5" destOrd="0" presId="urn:microsoft.com/office/officeart/2005/8/layout/vList2"/>
    <dgm:cxn modelId="{D4DD30A3-82C0-42D5-8B5C-6F0FAF3AF828}" type="presParOf" srcId="{B808A339-557D-4260-83D6-B7EF5280C2EB}" destId="{83F363AF-DC28-4925-A669-642BAFE74D5B}" srcOrd="6" destOrd="0" presId="urn:microsoft.com/office/officeart/2005/8/layout/vList2"/>
    <dgm:cxn modelId="{CC2E6413-B9A7-4F39-96E6-4C0098D20A6F}" type="presParOf" srcId="{B808A339-557D-4260-83D6-B7EF5280C2EB}" destId="{BC8C8604-8AD8-47C5-9081-F890E7F29EDF}" srcOrd="7" destOrd="0" presId="urn:microsoft.com/office/officeart/2005/8/layout/vList2"/>
    <dgm:cxn modelId="{B027924B-3098-4A90-91C9-A2EFA97E0B56}" type="presParOf" srcId="{B808A339-557D-4260-83D6-B7EF5280C2EB}" destId="{5E3E7177-6018-4127-91C8-98F31E603BAC}" srcOrd="8" destOrd="0" presId="urn:microsoft.com/office/officeart/2005/8/layout/vList2"/>
    <dgm:cxn modelId="{1270CFA8-011C-4D4F-BD22-FA3BA749B145}" type="presParOf" srcId="{B808A339-557D-4260-83D6-B7EF5280C2EB}" destId="{183C9948-7614-4A49-AFDB-F3B9CEAA190E}" srcOrd="9" destOrd="0" presId="urn:microsoft.com/office/officeart/2005/8/layout/vList2"/>
    <dgm:cxn modelId="{2B7C537D-250E-4794-A377-DA450422A6E2}" type="presParOf" srcId="{B808A339-557D-4260-83D6-B7EF5280C2EB}" destId="{F9A8AE34-B6BE-47FE-8D59-9FCC36ED15E4}" srcOrd="10" destOrd="0" presId="urn:microsoft.com/office/officeart/2005/8/layout/vList2"/>
    <dgm:cxn modelId="{130B87A8-9858-4D77-A422-7ECBE703040C}" type="presParOf" srcId="{B808A339-557D-4260-83D6-B7EF5280C2EB}" destId="{B7002982-436B-4E1C-9346-FFD02A3638ED}" srcOrd="11" destOrd="0" presId="urn:microsoft.com/office/officeart/2005/8/layout/vList2"/>
    <dgm:cxn modelId="{6CB25A51-8AF9-4A0F-86C9-8A84B0702D8C}" type="presParOf" srcId="{B808A339-557D-4260-83D6-B7EF5280C2EB}" destId="{A4666421-6623-4E7C-9D3F-B4E01E6D46E1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4D9FDA-D69C-4669-A76C-10B17504F91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9D35B96-063B-4099-891B-5BD1AF33D82B}">
      <dgm:prSet custT="1"/>
      <dgm:spPr/>
      <dgm:t>
        <a:bodyPr/>
        <a:lstStyle/>
        <a:p>
          <a:r>
            <a:rPr lang="en-US" sz="3200" dirty="0">
              <a:latin typeface="Garamond" panose="02020404030301010803" pitchFamily="18" charset="0"/>
            </a:rPr>
            <a:t>Resumo</a:t>
          </a:r>
        </a:p>
      </dgm:t>
    </dgm:pt>
    <dgm:pt modelId="{73E5BFA1-E755-4512-B780-1BE241A24605}" type="parTrans" cxnId="{C231C2D3-C677-46AE-ACCF-7C880E413A7C}">
      <dgm:prSet/>
      <dgm:spPr/>
      <dgm:t>
        <a:bodyPr/>
        <a:lstStyle/>
        <a:p>
          <a:endParaRPr lang="en-US"/>
        </a:p>
      </dgm:t>
    </dgm:pt>
    <dgm:pt modelId="{8D3EF791-3472-4BEF-8055-0C68F9B4EAED}" type="sibTrans" cxnId="{C231C2D3-C677-46AE-ACCF-7C880E413A7C}">
      <dgm:prSet/>
      <dgm:spPr/>
      <dgm:t>
        <a:bodyPr/>
        <a:lstStyle/>
        <a:p>
          <a:endParaRPr lang="en-US"/>
        </a:p>
      </dgm:t>
    </dgm:pt>
    <dgm:pt modelId="{B808A339-557D-4260-83D6-B7EF5280C2EB}" type="pres">
      <dgm:prSet presAssocID="{864D9FDA-D69C-4669-A76C-10B17504F91D}" presName="linear" presStyleCnt="0">
        <dgm:presLayoutVars>
          <dgm:animLvl val="lvl"/>
          <dgm:resizeHandles val="exact"/>
        </dgm:presLayoutVars>
      </dgm:prSet>
      <dgm:spPr/>
    </dgm:pt>
    <dgm:pt modelId="{90270C8B-BCD9-4394-A4C3-57097AC0BCC5}" type="pres">
      <dgm:prSet presAssocID="{D9D35B96-063B-4099-891B-5BD1AF33D82B}" presName="parentText" presStyleLbl="node1" presStyleIdx="0" presStyleCnt="1" custScaleY="42546">
        <dgm:presLayoutVars>
          <dgm:chMax val="0"/>
          <dgm:bulletEnabled val="1"/>
        </dgm:presLayoutVars>
      </dgm:prSet>
      <dgm:spPr/>
    </dgm:pt>
  </dgm:ptLst>
  <dgm:cxnLst>
    <dgm:cxn modelId="{9ABFF38F-5226-48CE-B1B0-4DCC30869708}" type="presOf" srcId="{D9D35B96-063B-4099-891B-5BD1AF33D82B}" destId="{90270C8B-BCD9-4394-A4C3-57097AC0BCC5}" srcOrd="0" destOrd="0" presId="urn:microsoft.com/office/officeart/2005/8/layout/vList2"/>
    <dgm:cxn modelId="{C231C2D3-C677-46AE-ACCF-7C880E413A7C}" srcId="{864D9FDA-D69C-4669-A76C-10B17504F91D}" destId="{D9D35B96-063B-4099-891B-5BD1AF33D82B}" srcOrd="0" destOrd="0" parTransId="{73E5BFA1-E755-4512-B780-1BE241A24605}" sibTransId="{8D3EF791-3472-4BEF-8055-0C68F9B4EAED}"/>
    <dgm:cxn modelId="{123EAAFD-032E-42E6-A3A7-C287AE8F2926}" type="presOf" srcId="{864D9FDA-D69C-4669-A76C-10B17504F91D}" destId="{B808A339-557D-4260-83D6-B7EF5280C2EB}" srcOrd="0" destOrd="0" presId="urn:microsoft.com/office/officeart/2005/8/layout/vList2"/>
    <dgm:cxn modelId="{C5307D61-0E36-4F76-84BE-102074FEAD6E}" type="presParOf" srcId="{B808A339-557D-4260-83D6-B7EF5280C2EB}" destId="{90270C8B-BCD9-4394-A4C3-57097AC0BC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4D9FDA-D69C-4669-A76C-10B17504F91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9D35B96-063B-4099-891B-5BD1AF33D82B}">
      <dgm:prSet custT="1"/>
      <dgm:spPr/>
      <dgm:t>
        <a:bodyPr/>
        <a:lstStyle/>
        <a:p>
          <a:r>
            <a:rPr lang="en-US" sz="3200" dirty="0">
              <a:latin typeface="Garamond" panose="02020404030301010803" pitchFamily="18" charset="0"/>
            </a:rPr>
            <a:t>Plano de Aula</a:t>
          </a:r>
        </a:p>
      </dgm:t>
    </dgm:pt>
    <dgm:pt modelId="{73E5BFA1-E755-4512-B780-1BE241A24605}" type="parTrans" cxnId="{C231C2D3-C677-46AE-ACCF-7C880E413A7C}">
      <dgm:prSet/>
      <dgm:spPr/>
      <dgm:t>
        <a:bodyPr/>
        <a:lstStyle/>
        <a:p>
          <a:endParaRPr lang="en-US"/>
        </a:p>
      </dgm:t>
    </dgm:pt>
    <dgm:pt modelId="{8D3EF791-3472-4BEF-8055-0C68F9B4EAED}" type="sibTrans" cxnId="{C231C2D3-C677-46AE-ACCF-7C880E413A7C}">
      <dgm:prSet/>
      <dgm:spPr/>
      <dgm:t>
        <a:bodyPr/>
        <a:lstStyle/>
        <a:p>
          <a:endParaRPr lang="en-US"/>
        </a:p>
      </dgm:t>
    </dgm:pt>
    <dgm:pt modelId="{B808A339-557D-4260-83D6-B7EF5280C2EB}" type="pres">
      <dgm:prSet presAssocID="{864D9FDA-D69C-4669-A76C-10B17504F91D}" presName="linear" presStyleCnt="0">
        <dgm:presLayoutVars>
          <dgm:animLvl val="lvl"/>
          <dgm:resizeHandles val="exact"/>
        </dgm:presLayoutVars>
      </dgm:prSet>
      <dgm:spPr/>
    </dgm:pt>
    <dgm:pt modelId="{90270C8B-BCD9-4394-A4C3-57097AC0BCC5}" type="pres">
      <dgm:prSet presAssocID="{D9D35B96-063B-4099-891B-5BD1AF33D82B}" presName="parentText" presStyleLbl="node1" presStyleIdx="0" presStyleCnt="1" custScaleY="42546">
        <dgm:presLayoutVars>
          <dgm:chMax val="0"/>
          <dgm:bulletEnabled val="1"/>
        </dgm:presLayoutVars>
      </dgm:prSet>
      <dgm:spPr/>
    </dgm:pt>
  </dgm:ptLst>
  <dgm:cxnLst>
    <dgm:cxn modelId="{9ABFF38F-5226-48CE-B1B0-4DCC30869708}" type="presOf" srcId="{D9D35B96-063B-4099-891B-5BD1AF33D82B}" destId="{90270C8B-BCD9-4394-A4C3-57097AC0BCC5}" srcOrd="0" destOrd="0" presId="urn:microsoft.com/office/officeart/2005/8/layout/vList2"/>
    <dgm:cxn modelId="{C231C2D3-C677-46AE-ACCF-7C880E413A7C}" srcId="{864D9FDA-D69C-4669-A76C-10B17504F91D}" destId="{D9D35B96-063B-4099-891B-5BD1AF33D82B}" srcOrd="0" destOrd="0" parTransId="{73E5BFA1-E755-4512-B780-1BE241A24605}" sibTransId="{8D3EF791-3472-4BEF-8055-0C68F9B4EAED}"/>
    <dgm:cxn modelId="{123EAAFD-032E-42E6-A3A7-C287AE8F2926}" type="presOf" srcId="{864D9FDA-D69C-4669-A76C-10B17504F91D}" destId="{B808A339-557D-4260-83D6-B7EF5280C2EB}" srcOrd="0" destOrd="0" presId="urn:microsoft.com/office/officeart/2005/8/layout/vList2"/>
    <dgm:cxn modelId="{C5307D61-0E36-4F76-84BE-102074FEAD6E}" type="presParOf" srcId="{B808A339-557D-4260-83D6-B7EF5280C2EB}" destId="{90270C8B-BCD9-4394-A4C3-57097AC0BC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270C8B-BCD9-4394-A4C3-57097AC0BCC5}">
      <dsp:nvSpPr>
        <dsp:cNvPr id="0" name=""/>
        <dsp:cNvSpPr/>
      </dsp:nvSpPr>
      <dsp:spPr>
        <a:xfrm>
          <a:off x="0" y="66451"/>
          <a:ext cx="6002110" cy="4668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Plano de Aula</a:t>
          </a:r>
        </a:p>
      </dsp:txBody>
      <dsp:txXfrm>
        <a:off x="22789" y="89240"/>
        <a:ext cx="5956532" cy="421252"/>
      </dsp:txXfrm>
    </dsp:sp>
    <dsp:sp modelId="{6B37A1E5-C617-4EBE-9EAC-5D393ED58D64}">
      <dsp:nvSpPr>
        <dsp:cNvPr id="0" name=""/>
        <dsp:cNvSpPr/>
      </dsp:nvSpPr>
      <dsp:spPr>
        <a:xfrm>
          <a:off x="0" y="588001"/>
          <a:ext cx="6002110" cy="466830"/>
        </a:xfrm>
        <a:prstGeom prst="round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Breve Resumo</a:t>
          </a:r>
          <a:endParaRPr lang="en-US" sz="1900" kern="1200" dirty="0"/>
        </a:p>
      </dsp:txBody>
      <dsp:txXfrm>
        <a:off x="22789" y="610790"/>
        <a:ext cx="5956532" cy="421252"/>
      </dsp:txXfrm>
    </dsp:sp>
    <dsp:sp modelId="{1C43343B-6DE0-4B70-AA70-DB6AD0E00198}">
      <dsp:nvSpPr>
        <dsp:cNvPr id="0" name=""/>
        <dsp:cNvSpPr/>
      </dsp:nvSpPr>
      <dsp:spPr>
        <a:xfrm>
          <a:off x="0" y="1109551"/>
          <a:ext cx="6002110" cy="46683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Motivação</a:t>
          </a:r>
          <a:endParaRPr lang="en-US" sz="1900" kern="1200" dirty="0"/>
        </a:p>
      </dsp:txBody>
      <dsp:txXfrm>
        <a:off x="22789" y="1132340"/>
        <a:ext cx="5956532" cy="421252"/>
      </dsp:txXfrm>
    </dsp:sp>
    <dsp:sp modelId="{83F363AF-DC28-4925-A669-642BAFE74D5B}">
      <dsp:nvSpPr>
        <dsp:cNvPr id="0" name=""/>
        <dsp:cNvSpPr/>
      </dsp:nvSpPr>
      <dsp:spPr>
        <a:xfrm>
          <a:off x="0" y="1669488"/>
          <a:ext cx="6002110" cy="46683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Curvas de Concentração e Razão de Concentração</a:t>
          </a:r>
          <a:endParaRPr lang="en-US" sz="1900" kern="1200" dirty="0"/>
        </a:p>
      </dsp:txBody>
      <dsp:txXfrm>
        <a:off x="22789" y="1692277"/>
        <a:ext cx="5956532" cy="421252"/>
      </dsp:txXfrm>
    </dsp:sp>
    <dsp:sp modelId="{5E3E7177-6018-4127-91C8-98F31E603BAC}">
      <dsp:nvSpPr>
        <dsp:cNvPr id="0" name=""/>
        <dsp:cNvSpPr/>
      </dsp:nvSpPr>
      <dsp:spPr>
        <a:xfrm>
          <a:off x="0" y="2152652"/>
          <a:ext cx="6002110" cy="46683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Decomposição do Índice de Gini</a:t>
          </a:r>
          <a:endParaRPr lang="en-US" sz="1900" kern="1200" dirty="0"/>
        </a:p>
      </dsp:txBody>
      <dsp:txXfrm>
        <a:off x="22789" y="2175441"/>
        <a:ext cx="5956532" cy="421252"/>
      </dsp:txXfrm>
    </dsp:sp>
    <dsp:sp modelId="{F9A8AE34-B6BE-47FE-8D59-9FCC36ED15E4}">
      <dsp:nvSpPr>
        <dsp:cNvPr id="0" name=""/>
        <dsp:cNvSpPr/>
      </dsp:nvSpPr>
      <dsp:spPr>
        <a:xfrm>
          <a:off x="0" y="2674201"/>
          <a:ext cx="6002110" cy="466830"/>
        </a:xfrm>
        <a:prstGeom prst="round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Resultados para o Brasil</a:t>
          </a:r>
          <a:endParaRPr lang="en-US" sz="1900" kern="1200" dirty="0"/>
        </a:p>
      </dsp:txBody>
      <dsp:txXfrm>
        <a:off x="22789" y="2696990"/>
        <a:ext cx="5956532" cy="421252"/>
      </dsp:txXfrm>
    </dsp:sp>
    <dsp:sp modelId="{A4666421-6623-4E7C-9D3F-B4E01E6D46E1}">
      <dsp:nvSpPr>
        <dsp:cNvPr id="0" name=""/>
        <dsp:cNvSpPr/>
      </dsp:nvSpPr>
      <dsp:spPr>
        <a:xfrm>
          <a:off x="0" y="3198716"/>
          <a:ext cx="6002110" cy="46683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1" kern="1200" dirty="0"/>
            <a:t>Spoilers</a:t>
          </a:r>
        </a:p>
      </dsp:txBody>
      <dsp:txXfrm>
        <a:off x="22789" y="3221505"/>
        <a:ext cx="5956532" cy="4212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270C8B-BCD9-4394-A4C3-57097AC0BCC5}">
      <dsp:nvSpPr>
        <dsp:cNvPr id="0" name=""/>
        <dsp:cNvSpPr/>
      </dsp:nvSpPr>
      <dsp:spPr>
        <a:xfrm>
          <a:off x="0" y="194117"/>
          <a:ext cx="6002110" cy="5097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Garamond" panose="02020404030301010803" pitchFamily="18" charset="0"/>
            </a:rPr>
            <a:t>Resumo</a:t>
          </a:r>
        </a:p>
      </dsp:txBody>
      <dsp:txXfrm>
        <a:off x="24883" y="219000"/>
        <a:ext cx="5952344" cy="4599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270C8B-BCD9-4394-A4C3-57097AC0BCC5}">
      <dsp:nvSpPr>
        <dsp:cNvPr id="0" name=""/>
        <dsp:cNvSpPr/>
      </dsp:nvSpPr>
      <dsp:spPr>
        <a:xfrm>
          <a:off x="0" y="194117"/>
          <a:ext cx="6002110" cy="5097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Garamond" panose="02020404030301010803" pitchFamily="18" charset="0"/>
            </a:rPr>
            <a:t>Plano de Aula</a:t>
          </a:r>
        </a:p>
      </dsp:txBody>
      <dsp:txXfrm>
        <a:off x="24883" y="219000"/>
        <a:ext cx="5952344" cy="4599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ED3CF-D13E-BFDD-8707-5B09EAE23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6B1CD7-27A5-ABFE-AD53-B03A53950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16EF5A-4A92-34B8-69E9-92703DC99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4082-F870-499B-8950-E9614F954A72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529502-A408-3899-EDC5-8D8F107D9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F84F35-EB1C-0E0F-8021-09AACC05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3866-C43F-41ED-884C-8A8FB42FF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331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94ACA-A097-B5BB-AD35-09FEDD08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43C6D7-FEDF-0A63-D18E-1376679D6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55D587-6428-573E-BE75-F0EE008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4082-F870-499B-8950-E9614F954A72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241D11-636D-BE81-7140-B3BA57223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B3BD56-ED1E-A08A-10BD-074123CC6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3866-C43F-41ED-884C-8A8FB42FF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77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4336B-1A34-2908-2590-24C369A8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32C6DF-A57B-BE58-AE49-15E758EB1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0B086F-BB17-B6B9-3996-8A505D18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4082-F870-499B-8950-E9614F954A72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C72274-3F0A-AF43-6799-C5C151C2B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86BC83-ABAE-5A34-246F-A3022749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3866-C43F-41ED-884C-8A8FB42FF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97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41E2F-95E2-6A68-EE60-F8A88DA11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B0DC27-A639-607B-A390-8D6773798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BFC85D-FE53-FC74-1184-73EE9A8CD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E49DFD-E9D6-8E56-FB79-3B76300F8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4082-F870-499B-8950-E9614F954A72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7175ED-B04A-0414-1FA8-C3A64931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87BEB3-2867-A608-C749-0315714D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3866-C43F-41ED-884C-8A8FB42FF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9365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66BFC-F291-106E-6035-5FA4B6914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940F34-BDA0-C087-C28F-99AC26D8A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5AF182-D2E0-1ABE-298A-C52ADA693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690EC5-54B0-4CD1-A846-854EA36F3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337A88-3490-9FB1-3FF8-4F4FCB1CC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1930C13-7E67-2591-6E9B-51DC87402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4082-F870-499B-8950-E9614F954A72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85E378D-FF75-0083-958D-FBA42ED3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C8310C5-5C3F-F100-D8A8-32D5C485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3866-C43F-41ED-884C-8A8FB42FF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296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4ED2F-F1BE-F78C-7717-0F7FFC60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32922B-AA09-5232-6EC0-7075AAB39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4082-F870-499B-8950-E9614F954A72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B75E1D-CAA3-FBC0-09F3-0BF0C53C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75A1FA-BA91-FD74-C537-FF8A6E38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3866-C43F-41ED-884C-8A8FB42FF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05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57FEE23-57FF-C4E2-9433-D3B95960B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4082-F870-499B-8950-E9614F954A72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274DA8A-FD6E-AE34-4C0A-4C4512BD6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111566-B954-6BA8-E739-0F7E7BD4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3866-C43F-41ED-884C-8A8FB42FF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51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79874-33AF-BA38-CA3C-420782E1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FB8082-D6E5-C7DC-57B1-79BDF9C36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50BE46-85B4-71E5-8D73-A35F3E651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858736-503F-3B13-82B2-0B7B8A9FB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4082-F870-499B-8950-E9614F954A72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BD0DB2-9906-8C5A-087C-B2EB5A34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AEE032-7584-6CDE-E6B7-0EAA1DF1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3866-C43F-41ED-884C-8A8FB42FF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28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03728-97D3-BD1C-5393-8B16B449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46EDB3E-BEA6-BFD4-C766-A893FC8B2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F8F1AB-3A75-3C76-5FB7-FD58616B6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BEDC9F-5832-5C97-DE30-160C58F7D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4082-F870-499B-8950-E9614F954A72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4FB2DA-17FB-505C-946B-C1EB03C2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F66C5-EFE3-5649-6584-7170BDE6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3866-C43F-41ED-884C-8A8FB42FF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36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A6479-D261-DC1B-EB74-A0A30BFA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1B086D-9E56-52C5-D9BF-5C9032F72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3F030A-5FFB-38E8-7681-4062866F2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4082-F870-499B-8950-E9614F954A72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C304A9-0CEE-A89E-4AF2-09EECB0A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3A5CD2-9DA9-C81D-0986-235C37BD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3866-C43F-41ED-884C-8A8FB42FF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75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759345-BD1F-01B1-C7B8-A19B7ED4A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B627207-7FE9-F75D-99B2-7DC5A8969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D14596-C899-344A-6D1B-7A14D320C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4082-F870-499B-8950-E9614F954A72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981355-70CD-5AFD-5CA3-D02A72D5B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3262CD-2150-1385-57A1-22FBCBF9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3866-C43F-41ED-884C-8A8FB42FF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45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B7CC64-4CE8-A5EB-3F9C-EB09C147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615B0E-20F2-F046-F775-967BE8009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C7FFC2-AE6D-D3EC-FEC1-316C393B5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B4082-F870-499B-8950-E9614F954A72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538E85-F2AA-8BF9-35B8-2F6A091E0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55A863-5FE9-F0E4-223F-1056E7F9B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53866-C43F-41ED-884C-8A8FB42FF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876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00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50.png"/><Relationship Id="rId7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2.png"/><Relationship Id="rId7" Type="http://schemas.openxmlformats.org/officeDocument/2006/relationships/image" Target="../media/image3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D005D73-34AD-5A17-5A9E-3BE6A85CF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5608" y="1264253"/>
            <a:ext cx="7633224" cy="221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ight Triangle 410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D9C38A-657D-6CDC-340C-53120FE71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1384" y="4118865"/>
            <a:ext cx="8921672" cy="1713305"/>
          </a:xfrm>
        </p:spPr>
        <p:txBody>
          <a:bodyPr anchor="b">
            <a:normAutofit/>
          </a:bodyPr>
          <a:lstStyle/>
          <a:p>
            <a:pPr algn="l"/>
            <a:r>
              <a:rPr lang="pt-BR" sz="3800" dirty="0">
                <a:latin typeface="Garamond" panose="02020404030301010803" pitchFamily="18" charset="0"/>
              </a:rPr>
              <a:t> Curvas de Concentração e a</a:t>
            </a:r>
            <a:br>
              <a:rPr lang="pt-BR" sz="3800" dirty="0">
                <a:latin typeface="Garamond" panose="02020404030301010803" pitchFamily="18" charset="0"/>
              </a:rPr>
            </a:br>
            <a:r>
              <a:rPr lang="pt-BR" sz="3800" dirty="0">
                <a:latin typeface="Garamond" panose="02020404030301010803" pitchFamily="18" charset="0"/>
              </a:rPr>
              <a:t> Decomposição da Desigualdade Conforme</a:t>
            </a:r>
            <a:br>
              <a:rPr lang="pt-BR" sz="3800" dirty="0">
                <a:latin typeface="Garamond" panose="02020404030301010803" pitchFamily="18" charset="0"/>
              </a:rPr>
            </a:br>
            <a:r>
              <a:rPr lang="pt-BR" sz="3800" dirty="0">
                <a:latin typeface="Garamond" panose="02020404030301010803" pitchFamily="18" charset="0"/>
              </a:rPr>
              <a:t> Parcelas de Renda</a:t>
            </a:r>
          </a:p>
        </p:txBody>
      </p:sp>
    </p:spTree>
    <p:extLst>
      <p:ext uri="{BB962C8B-B14F-4D97-AF65-F5344CB8AC3E}">
        <p14:creationId xmlns:p14="http://schemas.microsoft.com/office/powerpoint/2010/main" val="2061625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23B490-3F2C-3968-6DBC-07A2A76CE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9"/>
            <a:ext cx="6002110" cy="675694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Garamond" panose="02020404030301010803" pitchFamily="18" charset="0"/>
              </a:rPr>
              <a:t>Plano de aula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7C6ACE87-F397-1F75-9A21-8C4A8EC5D3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5881616"/>
              </p:ext>
            </p:extLst>
          </p:nvPr>
        </p:nvGraphicFramePr>
        <p:xfrm>
          <a:off x="836679" y="179857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0825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5E160D-78B2-380F-D818-9F541889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DE9B27-0108-0EB1-1EDA-62C22840A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93579F4-E765-9D3C-B477-1BCA5CBC0B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1323" y="501623"/>
          <a:ext cx="6002110" cy="897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E95A3638-1340-3ABF-C803-7F40ECBD2E9F}"/>
              </a:ext>
            </a:extLst>
          </p:cNvPr>
          <p:cNvSpPr txBox="1">
            <a:spLocks/>
          </p:cNvSpPr>
          <p:nvPr/>
        </p:nvSpPr>
        <p:spPr>
          <a:xfrm>
            <a:off x="911323" y="2547415"/>
            <a:ext cx="10036608" cy="57787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800" dirty="0">
                <a:latin typeface="Garamond" panose="02020404030301010803" pitchFamily="18" charset="0"/>
              </a:rPr>
              <a:t>Como medi-la?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2105A7C-0821-D93C-228B-B1F840A2FC73}"/>
              </a:ext>
            </a:extLst>
          </p:cNvPr>
          <p:cNvSpPr txBox="1">
            <a:spLocks/>
          </p:cNvSpPr>
          <p:nvPr/>
        </p:nvSpPr>
        <p:spPr>
          <a:xfrm>
            <a:off x="911322" y="3258029"/>
            <a:ext cx="6301240" cy="57787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800" dirty="0">
                <a:latin typeface="Garamond" panose="02020404030301010803" pitchFamily="18" charset="0"/>
              </a:rPr>
              <a:t>Porque existem muitas medidas?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2A5B2A8-F0E3-DF32-77D3-C874551AD55E}"/>
              </a:ext>
            </a:extLst>
          </p:cNvPr>
          <p:cNvSpPr txBox="1">
            <a:spLocks/>
          </p:cNvSpPr>
          <p:nvPr/>
        </p:nvSpPr>
        <p:spPr>
          <a:xfrm>
            <a:off x="911322" y="1495584"/>
            <a:ext cx="10658636" cy="8075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800" dirty="0">
                <a:latin typeface="Garamond" panose="02020404030301010803" pitchFamily="18" charset="0"/>
              </a:rPr>
              <a:t>Por que medir a desigualdade da distribuição da renda?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3B448FB-4351-8E33-8BDA-5D3627A1DF9D}"/>
              </a:ext>
            </a:extLst>
          </p:cNvPr>
          <p:cNvSpPr txBox="1">
            <a:spLocks/>
          </p:cNvSpPr>
          <p:nvPr/>
        </p:nvSpPr>
        <p:spPr>
          <a:xfrm>
            <a:off x="911322" y="4124836"/>
            <a:ext cx="9557625" cy="5778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800" dirty="0">
                <a:latin typeface="Garamond" panose="02020404030301010803" pitchFamily="18" charset="0"/>
              </a:rPr>
              <a:t>A desigualdade da distribuição de qual renda?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1084C970-7519-677B-F0FF-0E3ED401F182}"/>
              </a:ext>
            </a:extLst>
          </p:cNvPr>
          <p:cNvSpPr txBox="1">
            <a:spLocks/>
          </p:cNvSpPr>
          <p:nvPr/>
        </p:nvSpPr>
        <p:spPr>
          <a:xfrm>
            <a:off x="911321" y="4991643"/>
            <a:ext cx="9557625" cy="5778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800" dirty="0">
                <a:latin typeface="Garamond" panose="02020404030301010803" pitchFamily="18" charset="0"/>
              </a:rPr>
              <a:t>Bem-estar e renda domiciliar </a:t>
            </a:r>
            <a:r>
              <a:rPr lang="pt-BR" sz="3800" i="1" dirty="0">
                <a:latin typeface="Garamond" panose="02020404030301010803" pitchFamily="18" charset="0"/>
              </a:rPr>
              <a:t>per capita </a:t>
            </a:r>
          </a:p>
        </p:txBody>
      </p:sp>
    </p:spTree>
    <p:extLst>
      <p:ext uri="{BB962C8B-B14F-4D97-AF65-F5344CB8AC3E}">
        <p14:creationId xmlns:p14="http://schemas.microsoft.com/office/powerpoint/2010/main" val="2478745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C510B-4F13-1275-AF4C-862CF6E9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B3BA06-6D7C-BCEC-F352-FB76A29AB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C762FD0A-1768-0FA0-430B-9C143A836F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1831747"/>
              </p:ext>
            </p:extLst>
          </p:nvPr>
        </p:nvGraphicFramePr>
        <p:xfrm>
          <a:off x="911323" y="501623"/>
          <a:ext cx="6002110" cy="897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90E50CB8-A6C3-CF8B-921F-81D1B7051549}"/>
              </a:ext>
            </a:extLst>
          </p:cNvPr>
          <p:cNvSpPr txBox="1">
            <a:spLocks/>
          </p:cNvSpPr>
          <p:nvPr/>
        </p:nvSpPr>
        <p:spPr>
          <a:xfrm>
            <a:off x="1051281" y="1901216"/>
            <a:ext cx="10658636" cy="37624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800" dirty="0">
              <a:latin typeface="Garamond" panose="02020404030301010803" pitchFamily="18" charset="0"/>
            </a:endParaRPr>
          </a:p>
          <a:p>
            <a:endParaRPr lang="pt-BR" sz="1800" dirty="0">
              <a:latin typeface="Garamond" panose="02020404030301010803" pitchFamily="18" charset="0"/>
            </a:endParaRPr>
          </a:p>
          <a:p>
            <a:endParaRPr lang="pt-BR" sz="1800" dirty="0">
              <a:latin typeface="Garamond" panose="02020404030301010803" pitchFamily="18" charset="0"/>
            </a:endParaRPr>
          </a:p>
          <a:p>
            <a:endParaRPr lang="pt-BR" sz="1800" dirty="0">
              <a:latin typeface="Garamond" panose="02020404030301010803" pitchFamily="18" charset="0"/>
            </a:endParaRPr>
          </a:p>
          <a:p>
            <a:endParaRPr lang="pt-BR" sz="1800" dirty="0">
              <a:latin typeface="Garamond" panose="02020404030301010803" pitchFamily="18" charset="0"/>
            </a:endParaRPr>
          </a:p>
          <a:p>
            <a:endParaRPr lang="pt-BR" sz="1800" dirty="0">
              <a:latin typeface="Garamond" panose="02020404030301010803" pitchFamily="18" charset="0"/>
            </a:endParaRPr>
          </a:p>
          <a:p>
            <a:endParaRPr lang="pt-BR" sz="1800" dirty="0">
              <a:latin typeface="Garamond" panose="02020404030301010803" pitchFamily="18" charset="0"/>
            </a:endParaRPr>
          </a:p>
          <a:p>
            <a:endParaRPr lang="pt-BR" sz="1800" dirty="0">
              <a:latin typeface="Garamond" panose="02020404030301010803" pitchFamily="18" charset="0"/>
            </a:endParaRPr>
          </a:p>
          <a:p>
            <a:endParaRPr lang="pt-BR" sz="1800" dirty="0">
              <a:latin typeface="Garamond" panose="02020404030301010803" pitchFamily="18" charset="0"/>
            </a:endParaRPr>
          </a:p>
          <a:p>
            <a:r>
              <a:rPr lang="pt-BR" sz="1800" dirty="0">
                <a:latin typeface="Garamond" panose="02020404030301010803" pitchFamily="18" charset="0"/>
              </a:rPr>
              <a:t>Objetivo: Apresentar o conceito de Curvas de Concentração, Razão de Concentração e Como o índice de Gini pode ser decomposto conforme parcelas da renda 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Conteúdo: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	Breve resumo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	Motivação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	Curvas de Concentração e Razão de Concentração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	Decomposição do índice de Gini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	Medida de Progressividade de Lerman-</a:t>
            </a:r>
            <a:r>
              <a:rPr lang="pt-BR" sz="1800" dirty="0" err="1">
                <a:latin typeface="Garamond" panose="02020404030301010803" pitchFamily="18" charset="0"/>
              </a:rPr>
              <a:t>Yitzhaki</a:t>
            </a:r>
            <a:endParaRPr lang="pt-BR" sz="1800" dirty="0">
              <a:latin typeface="Garamond" panose="02020404030301010803" pitchFamily="18" charset="0"/>
            </a:endParaRPr>
          </a:p>
          <a:p>
            <a:r>
              <a:rPr lang="pt-BR" sz="1800" dirty="0">
                <a:latin typeface="Garamond" panose="02020404030301010803" pitchFamily="18" charset="0"/>
              </a:rPr>
              <a:t>	Resultados para o Brasil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	Spoilers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Estratégia ou metodologia: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Aula expositiva dialogada: apresentação dos conceitos teóricos 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Análise gráfica: construção e interpretação de curvas com exemplos simples.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Apresentação matemática guiada: derivação da decomposição do Gini passo a passo.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Aplicação empírica: uso de dados reais do Brasil (PNAD, IBGE) para ilustrar como políticas públicas afetam a desigualdade.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Atividade prática: alunos calculam razão de concentração e componentes do Gini para um exemplo numérico.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Discussão final: análise crítica sobre progressividade/regressividade de diferentes políticas (tributos indiretos, Bolsa Família, aposentadorias etc.).</a:t>
            </a:r>
          </a:p>
          <a:p>
            <a:endParaRPr lang="pt-BR" sz="1800" dirty="0">
              <a:latin typeface="Garamond" panose="02020404030301010803" pitchFamily="18" charset="0"/>
            </a:endParaRPr>
          </a:p>
          <a:p>
            <a:r>
              <a:rPr lang="pt-BR" sz="1800" dirty="0">
                <a:latin typeface="Garamond" panose="02020404030301010803" pitchFamily="18" charset="0"/>
              </a:rPr>
              <a:t>Recursos:</a:t>
            </a:r>
          </a:p>
          <a:p>
            <a:r>
              <a:rPr lang="pt-BR" sz="1800" dirty="0">
                <a:latin typeface="Garamond" panose="02020404030301010803" pitchFamily="18" charset="0"/>
              </a:rPr>
              <a:t>Referências:	</a:t>
            </a:r>
            <a:endParaRPr lang="pt-BR" sz="38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805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75325-4692-6E3A-73DC-A9B038A62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057A72-DD12-7461-7932-5719D9938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ítulo 1">
                <a:extLst>
                  <a:ext uri="{FF2B5EF4-FFF2-40B4-BE49-F238E27FC236}">
                    <a16:creationId xmlns:a16="http://schemas.microsoft.com/office/drawing/2014/main" id="{9455130E-9D28-D037-17AA-105BE8A624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9151" y="1568395"/>
                <a:ext cx="7878113" cy="2512164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𝑅𝑒𝑛𝑑𝑎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𝑑𝑜𝑚𝑖𝑐𝑖𝑙𝑖𝑎𝑟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𝑇𝑟𝑎𝑏𝑎𝑙h𝑜</m:t>
                              </m:r>
                            </m:e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𝐴𝑝𝑜𝑠𝑒𝑛𝑡𝑎𝑑𝑜𝑟𝑖𝑎𝑠</m:t>
                              </m:r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𝑃𝑒𝑛𝑠</m:t>
                              </m:r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ã</m:t>
                              </m:r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𝑃𝑟𝑜𝑔𝑟𝑎𝑚𝑎𝑠</m:t>
                                  </m:r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𝑠𝑜𝑐𝑖𝑎𝑖𝑠</m:t>
                                  </m:r>
                                </m:e>
                                <m:e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𝐷𝑜𝑎</m:t>
                                  </m:r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çõ</m:t>
                                  </m:r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</m:e>
                                <m:e>
                                  <m:eqArr>
                                    <m:eqArrPr>
                                      <m:ctrlPr>
                                        <a:rPr lang="pt-BR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pt-BR" sz="2400" i="1" dirty="0">
                                          <a:latin typeface="Cambria Math" panose="02040503050406030204" pitchFamily="18" charset="0"/>
                                        </a:rPr>
                                        <m:t>𝐴𝑙𝑢𝑔𝑢𝑒𝑙</m:t>
                                      </m:r>
                                    </m:e>
                                    <m:e>
                                      <m:r>
                                        <a:rPr lang="pt-BR" sz="2400" i="1" dirty="0">
                                          <a:latin typeface="Cambria Math" panose="02040503050406030204" pitchFamily="18" charset="0"/>
                                        </a:rPr>
                                        <m:t>𝑅𝑒𝑛𝑑𝑖𝑚𝑒𝑛𝑡𝑜𝑠</m:t>
                                      </m:r>
                                      <m:r>
                                        <a:rPr lang="pt-BR" sz="2400" i="1" dirty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pt-BR" sz="2400" i="1" dirty="0">
                                          <a:latin typeface="Cambria Math" panose="02040503050406030204" pitchFamily="18" charset="0"/>
                                        </a:rPr>
                                        <m:t>𝐹𝑖𝑛𝑎𝑛𝑐𝑒𝑖𝑟𝑜𝑠</m:t>
                                      </m:r>
                                    </m:e>
                                    <m:e>
                                      <m:r>
                                        <a:rPr lang="pt-BR" sz="2400" i="1" dirty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eqArr>
                                </m:e>
                              </m:eqArr>
                            </m:e>
                          </m:eqArr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13" name="Título 1">
                <a:extLst>
                  <a:ext uri="{FF2B5EF4-FFF2-40B4-BE49-F238E27FC236}">
                    <a16:creationId xmlns:a16="http://schemas.microsoft.com/office/drawing/2014/main" id="{9455130E-9D28-D037-17AA-105BE8A62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151" y="1568395"/>
                <a:ext cx="7878113" cy="2512164"/>
              </a:xfrm>
              <a:prstGeom prst="rect">
                <a:avLst/>
              </a:prstGeom>
              <a:blipFill>
                <a:blip r:embed="rId2"/>
                <a:stretch>
                  <a:fillRect b="-7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4F3357AE-FF09-F097-1255-189DC1AA41D7}"/>
                  </a:ext>
                </a:extLst>
              </p:cNvPr>
              <p:cNvSpPr txBox="1"/>
              <p:nvPr/>
            </p:nvSpPr>
            <p:spPr>
              <a:xfrm>
                <a:off x="4320233" y="4674353"/>
                <a:ext cx="4441212" cy="143084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800" i="1" kern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sz="1800" b="0" i="1" kern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t-BR" sz="1800" b="0" i="1" kern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pt-BR" sz="1800" b="0" i="1" kern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&lt;</m:t>
                      </m:r>
                      <m:sSub>
                        <m:sSubPr>
                          <m:ctrlP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pt-BR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&lt;</m:t>
                      </m:r>
                      <m:sSub>
                        <m:sSubPr>
                          <m:ctrlP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3</m:t>
                          </m:r>
                        </m:sub>
                      </m:sSub>
                      <m:r>
                        <a:rPr lang="pt-BR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&lt;…</m:t>
                      </m:r>
                      <m:r>
                        <a:rPr lang="pt-BR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&lt;</m:t>
                      </m:r>
                      <m:sSub>
                        <m:sSubPr>
                          <m:ctrlP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𝑁</m:t>
                          </m:r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pt-BR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&lt;</m:t>
                      </m:r>
                      <m:sSub>
                        <m:sSubPr>
                          <m:ctrlP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pt-BR" kern="0" dirty="0">
                  <a:solidFill>
                    <a:srgbClr val="000000"/>
                  </a:solidFill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/>
                <a:endParaRPr lang="pt-BR" kern="0" dirty="0">
                  <a:solidFill>
                    <a:srgbClr val="000000"/>
                  </a:solidFill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pt-BR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  <m: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4F3357AE-FF09-F097-1255-189DC1AA4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233" y="4674353"/>
                <a:ext cx="4441212" cy="14308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Agrupar 14">
            <a:extLst>
              <a:ext uri="{FF2B5EF4-FFF2-40B4-BE49-F238E27FC236}">
                <a16:creationId xmlns:a16="http://schemas.microsoft.com/office/drawing/2014/main" id="{E68E2FF1-8A9E-3728-1C63-D3DDFD5A6520}"/>
              </a:ext>
            </a:extLst>
          </p:cNvPr>
          <p:cNvGrpSpPr/>
          <p:nvPr/>
        </p:nvGrpSpPr>
        <p:grpSpPr>
          <a:xfrm>
            <a:off x="323753" y="317368"/>
            <a:ext cx="6002110" cy="466830"/>
            <a:chOff x="0" y="588001"/>
            <a:chExt cx="6002110" cy="466830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1F5E175F-EFB4-78B1-4855-9612BA071AA4}"/>
                </a:ext>
              </a:extLst>
            </p:cNvPr>
            <p:cNvSpPr/>
            <p:nvPr/>
          </p:nvSpPr>
          <p:spPr>
            <a:xfrm>
              <a:off x="0" y="588001"/>
              <a:ext cx="6002110" cy="46683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2025358"/>
                <a:satOff val="-138"/>
                <a:lumOff val="327"/>
                <a:alphaOff val="0"/>
              </a:schemeClr>
            </a:fillRef>
            <a:effectRef idx="0">
              <a:schemeClr val="accent5">
                <a:hueOff val="-2025358"/>
                <a:satOff val="-138"/>
                <a:lumOff val="32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tângulo: Cantos Arredondados 4">
              <a:extLst>
                <a:ext uri="{FF2B5EF4-FFF2-40B4-BE49-F238E27FC236}">
                  <a16:creationId xmlns:a16="http://schemas.microsoft.com/office/drawing/2014/main" id="{EBA95320-7DAC-1D6A-32E0-B7D5F68CFE8A}"/>
                </a:ext>
              </a:extLst>
            </p:cNvPr>
            <p:cNvSpPr txBox="1"/>
            <p:nvPr/>
          </p:nvSpPr>
          <p:spPr>
            <a:xfrm>
              <a:off x="22789" y="610790"/>
              <a:ext cx="5956532" cy="4212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900" kern="1200" dirty="0"/>
                <a:t>Motivação</a:t>
              </a:r>
              <a:endParaRPr lang="en-US" sz="1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8575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EDCEC0B-CF89-75BA-D564-1A4F68FFC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59" y="1362881"/>
            <a:ext cx="5655363" cy="41941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E2378B2-9E26-CCCE-F17C-486A6EFD0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781" y="753949"/>
            <a:ext cx="4137696" cy="25882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68A301F-44E3-1562-9622-9DB073E9F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81" y="3459965"/>
            <a:ext cx="4137696" cy="26262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5E9571C-52E1-E21C-D704-B47B81D652B6}"/>
              </a:ext>
            </a:extLst>
          </p:cNvPr>
          <p:cNvSpPr txBox="1"/>
          <p:nvPr/>
        </p:nvSpPr>
        <p:spPr>
          <a:xfrm>
            <a:off x="719591" y="5820026"/>
            <a:ext cx="5227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  <a:latin typeface="Garamond" panose="02020404030301010803" pitchFamily="18" charset="0"/>
              </a:rPr>
              <a:t> “A distribuição dos rendimentos de aposentadorias e pensões reduz a desigualdade de renda”. (p. 38)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117B8A4-0DEB-D517-5879-AD81C0F7A36F}"/>
              </a:ext>
            </a:extLst>
          </p:cNvPr>
          <p:cNvGrpSpPr/>
          <p:nvPr/>
        </p:nvGrpSpPr>
        <p:grpSpPr>
          <a:xfrm>
            <a:off x="174463" y="309908"/>
            <a:ext cx="6002110" cy="466830"/>
            <a:chOff x="0" y="588001"/>
            <a:chExt cx="6002110" cy="466830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2932678F-7A3F-5842-90C4-C7F7AFE11649}"/>
                </a:ext>
              </a:extLst>
            </p:cNvPr>
            <p:cNvSpPr/>
            <p:nvPr/>
          </p:nvSpPr>
          <p:spPr>
            <a:xfrm>
              <a:off x="0" y="588001"/>
              <a:ext cx="6002110" cy="46683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2025358"/>
                <a:satOff val="-138"/>
                <a:lumOff val="327"/>
                <a:alphaOff val="0"/>
              </a:schemeClr>
            </a:fillRef>
            <a:effectRef idx="0">
              <a:schemeClr val="accent5">
                <a:hueOff val="-2025358"/>
                <a:satOff val="-138"/>
                <a:lumOff val="32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8" name="Retângulo: Cantos Arredondados 4">
              <a:extLst>
                <a:ext uri="{FF2B5EF4-FFF2-40B4-BE49-F238E27FC236}">
                  <a16:creationId xmlns:a16="http://schemas.microsoft.com/office/drawing/2014/main" id="{1BB5A128-D4CF-445E-1FE3-06B86CD970E5}"/>
                </a:ext>
              </a:extLst>
            </p:cNvPr>
            <p:cNvSpPr txBox="1"/>
            <p:nvPr/>
          </p:nvSpPr>
          <p:spPr>
            <a:xfrm>
              <a:off x="22789" y="610790"/>
              <a:ext cx="5956532" cy="4212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900" kern="1200" dirty="0"/>
                <a:t>Motivação</a:t>
              </a:r>
              <a:endParaRPr lang="en-US" sz="1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8806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F7AF8F1D-21B9-0E7C-B4B1-88DF528C4EAB}"/>
              </a:ext>
            </a:extLst>
          </p:cNvPr>
          <p:cNvSpPr/>
          <p:nvPr/>
        </p:nvSpPr>
        <p:spPr>
          <a:xfrm>
            <a:off x="925276" y="2547707"/>
            <a:ext cx="3517641" cy="940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7E73E483-E653-84AD-FA11-986403050C04}"/>
              </a:ext>
            </a:extLst>
          </p:cNvPr>
          <p:cNvSpPr txBox="1">
            <a:spLocks/>
          </p:cNvSpPr>
          <p:nvPr/>
        </p:nvSpPr>
        <p:spPr>
          <a:xfrm>
            <a:off x="1041907" y="2743498"/>
            <a:ext cx="3284377" cy="788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Garamond" panose="02020404030301010803" pitchFamily="18" charset="0"/>
              </a:rPr>
              <a:t>Calcula-se o índice de Gini da distribuição da </a:t>
            </a:r>
            <a:r>
              <a:rPr lang="pt-BR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Garamond" panose="02020404030301010803" pitchFamily="18" charset="0"/>
              </a:rPr>
              <a:t>Renda Total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AD1308C-807B-4232-2777-0C5256DF6037}"/>
              </a:ext>
            </a:extLst>
          </p:cNvPr>
          <p:cNvSpPr/>
          <p:nvPr/>
        </p:nvSpPr>
        <p:spPr>
          <a:xfrm>
            <a:off x="1020146" y="4571403"/>
            <a:ext cx="3517641" cy="13810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B7B14370-8799-F727-A5D2-FEAF07F2CE22}"/>
              </a:ext>
            </a:extLst>
          </p:cNvPr>
          <p:cNvSpPr txBox="1">
            <a:spLocks/>
          </p:cNvSpPr>
          <p:nvPr/>
        </p:nvSpPr>
        <p:spPr>
          <a:xfrm>
            <a:off x="1136777" y="4790782"/>
            <a:ext cx="3284377" cy="1161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Garamond" panose="02020404030301010803" pitchFamily="18" charset="0"/>
              </a:rPr>
              <a:t>Calcula-se a desigualdade da distribuição </a:t>
            </a:r>
            <a:r>
              <a:rPr lang="pt-BR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Garamond" panose="02020404030301010803" pitchFamily="18" charset="0"/>
              </a:rPr>
              <a:t>excluindo os rendimentos de APP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868E90D-10F3-7D89-4580-E9EDC950C464}"/>
              </a:ext>
            </a:extLst>
          </p:cNvPr>
          <p:cNvSpPr/>
          <p:nvPr/>
        </p:nvSpPr>
        <p:spPr>
          <a:xfrm>
            <a:off x="923721" y="1350773"/>
            <a:ext cx="3517641" cy="581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B7F9347A-8423-CCF8-212E-456476ECAE5B}"/>
              </a:ext>
            </a:extLst>
          </p:cNvPr>
          <p:cNvSpPr txBox="1">
            <a:spLocks/>
          </p:cNvSpPr>
          <p:nvPr/>
        </p:nvSpPr>
        <p:spPr>
          <a:xfrm>
            <a:off x="1009252" y="1426977"/>
            <a:ext cx="3284377" cy="505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Garamond" panose="02020404030301010803" pitchFamily="18" charset="0"/>
              </a:rPr>
              <a:t>Raciocínio usado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EDA0183-988E-BFD2-C3FD-160EA715CA45}"/>
              </a:ext>
            </a:extLst>
          </p:cNvPr>
          <p:cNvSpPr/>
          <p:nvPr/>
        </p:nvSpPr>
        <p:spPr>
          <a:xfrm>
            <a:off x="674908" y="2296431"/>
            <a:ext cx="531845" cy="5038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B25E383-284B-55EC-ED9D-ECB840C9CA43}"/>
              </a:ext>
            </a:extLst>
          </p:cNvPr>
          <p:cNvSpPr txBox="1"/>
          <p:nvPr/>
        </p:nvSpPr>
        <p:spPr>
          <a:xfrm>
            <a:off x="758880" y="2305762"/>
            <a:ext cx="251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7454EF8B-0889-F438-A04F-7BD7C4DFE2BD}"/>
              </a:ext>
            </a:extLst>
          </p:cNvPr>
          <p:cNvSpPr/>
          <p:nvPr/>
        </p:nvSpPr>
        <p:spPr>
          <a:xfrm>
            <a:off x="769778" y="4392021"/>
            <a:ext cx="531845" cy="5038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BD80AD3-655C-61C9-35D8-9150B95EA168}"/>
              </a:ext>
            </a:extLst>
          </p:cNvPr>
          <p:cNvSpPr txBox="1"/>
          <p:nvPr/>
        </p:nvSpPr>
        <p:spPr>
          <a:xfrm>
            <a:off x="853750" y="4401352"/>
            <a:ext cx="251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B551C00-C206-A295-59B7-C9741856FD23}"/>
              </a:ext>
            </a:extLst>
          </p:cNvPr>
          <p:cNvSpPr/>
          <p:nvPr/>
        </p:nvSpPr>
        <p:spPr>
          <a:xfrm>
            <a:off x="7439759" y="1328422"/>
            <a:ext cx="3517641" cy="13810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ubtítulo 2">
            <a:extLst>
              <a:ext uri="{FF2B5EF4-FFF2-40B4-BE49-F238E27FC236}">
                <a16:creationId xmlns:a16="http://schemas.microsoft.com/office/drawing/2014/main" id="{9B71BB42-1D3B-DD78-03DD-3842021415B9}"/>
              </a:ext>
            </a:extLst>
          </p:cNvPr>
          <p:cNvSpPr txBox="1">
            <a:spLocks/>
          </p:cNvSpPr>
          <p:nvPr/>
        </p:nvSpPr>
        <p:spPr>
          <a:xfrm>
            <a:off x="7556390" y="1690037"/>
            <a:ext cx="3284377" cy="657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Garamond" panose="02020404030301010803" pitchFamily="18" charset="0"/>
              </a:rPr>
              <a:t>Compara-se as medidas</a:t>
            </a:r>
            <a:endParaRPr lang="pt-BR" b="1" dirty="0">
              <a:solidFill>
                <a:schemeClr val="accent3">
                  <a:lumMod val="60000"/>
                  <a:lumOff val="40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2235957-FDEF-B049-9A7F-B38FABA9EB16}"/>
              </a:ext>
            </a:extLst>
          </p:cNvPr>
          <p:cNvSpPr/>
          <p:nvPr/>
        </p:nvSpPr>
        <p:spPr>
          <a:xfrm>
            <a:off x="7189391" y="1149040"/>
            <a:ext cx="531845" cy="5038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74282CD-7D4E-F345-4418-850F026B91A9}"/>
              </a:ext>
            </a:extLst>
          </p:cNvPr>
          <p:cNvSpPr txBox="1"/>
          <p:nvPr/>
        </p:nvSpPr>
        <p:spPr>
          <a:xfrm>
            <a:off x="7273363" y="1170857"/>
            <a:ext cx="251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AACF0986-E999-CFF7-1258-54A9966F2C1F}"/>
              </a:ext>
            </a:extLst>
          </p:cNvPr>
          <p:cNvSpPr/>
          <p:nvPr/>
        </p:nvSpPr>
        <p:spPr>
          <a:xfrm>
            <a:off x="4082126" y="3265806"/>
            <a:ext cx="989051" cy="9843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260A420D-1168-46CD-4C5B-C865BDCEE5D3}"/>
                  </a:ext>
                </a:extLst>
              </p:cNvPr>
              <p:cNvSpPr txBox="1"/>
              <p:nvPr/>
            </p:nvSpPr>
            <p:spPr>
              <a:xfrm>
                <a:off x="4231414" y="3459277"/>
                <a:ext cx="69047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pt-BR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260A420D-1168-46CD-4C5B-C865BDCEE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414" y="3459277"/>
                <a:ext cx="69047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Elipse 24">
            <a:extLst>
              <a:ext uri="{FF2B5EF4-FFF2-40B4-BE49-F238E27FC236}">
                <a16:creationId xmlns:a16="http://schemas.microsoft.com/office/drawing/2014/main" id="{41598EF4-C350-396A-0210-2B8C20530488}"/>
              </a:ext>
            </a:extLst>
          </p:cNvPr>
          <p:cNvSpPr/>
          <p:nvPr/>
        </p:nvSpPr>
        <p:spPr>
          <a:xfrm>
            <a:off x="4293629" y="5630330"/>
            <a:ext cx="989051" cy="9843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9CB5FF3-3371-A0BC-C689-7FFC3E9E37F3}"/>
                  </a:ext>
                </a:extLst>
              </p:cNvPr>
              <p:cNvSpPr txBox="1"/>
              <p:nvPr/>
            </p:nvSpPr>
            <p:spPr>
              <a:xfrm>
                <a:off x="4442917" y="5823801"/>
                <a:ext cx="69047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pt-BR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9CB5FF3-3371-A0BC-C689-7FFC3E9E3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917" y="5823801"/>
                <a:ext cx="69047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633D2774-7D98-4611-6A9D-18B971FFC86D}"/>
                  </a:ext>
                </a:extLst>
              </p:cNvPr>
              <p:cNvSpPr txBox="1"/>
              <p:nvPr/>
            </p:nvSpPr>
            <p:spPr>
              <a:xfrm>
                <a:off x="6306718" y="3600811"/>
                <a:ext cx="23622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pt-BR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pt-BR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pt-BR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633D2774-7D98-4611-6A9D-18B971FFC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718" y="3600811"/>
                <a:ext cx="236220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2D7A33B1-032E-8ED4-4125-7627FC25CD6F}"/>
                  </a:ext>
                </a:extLst>
              </p:cNvPr>
              <p:cNvSpPr txBox="1"/>
              <p:nvPr/>
            </p:nvSpPr>
            <p:spPr>
              <a:xfrm>
                <a:off x="6274844" y="5184856"/>
                <a:ext cx="23622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pt-B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pt-BR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pt-BR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2D7A33B1-032E-8ED4-4125-7627FC25C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844" y="5184856"/>
                <a:ext cx="2362201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tângulo 28">
            <a:extLst>
              <a:ext uri="{FF2B5EF4-FFF2-40B4-BE49-F238E27FC236}">
                <a16:creationId xmlns:a16="http://schemas.microsoft.com/office/drawing/2014/main" id="{C148757D-3D56-FD74-A94D-E2AC445B0C25}"/>
              </a:ext>
            </a:extLst>
          </p:cNvPr>
          <p:cNvSpPr/>
          <p:nvPr/>
        </p:nvSpPr>
        <p:spPr>
          <a:xfrm>
            <a:off x="8380587" y="3066372"/>
            <a:ext cx="2425048" cy="13810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Subtítulo 2">
            <a:extLst>
              <a:ext uri="{FF2B5EF4-FFF2-40B4-BE49-F238E27FC236}">
                <a16:creationId xmlns:a16="http://schemas.microsoft.com/office/drawing/2014/main" id="{D9ABFDAE-9868-D89F-39B9-7B73AF8CBF72}"/>
              </a:ext>
            </a:extLst>
          </p:cNvPr>
          <p:cNvSpPr txBox="1">
            <a:spLocks/>
          </p:cNvSpPr>
          <p:nvPr/>
        </p:nvSpPr>
        <p:spPr>
          <a:xfrm>
            <a:off x="8493199" y="3293929"/>
            <a:ext cx="2268256" cy="871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Garamond" panose="02020404030301010803" pitchFamily="18" charset="0"/>
              </a:rPr>
              <a:t>APP contribui para </a:t>
            </a:r>
            <a:r>
              <a:rPr lang="pt-BR" sz="4800" b="1" dirty="0">
                <a:solidFill>
                  <a:srgbClr val="FF0000"/>
                </a:solidFill>
                <a:latin typeface="Garamond" panose="02020404030301010803" pitchFamily="18" charset="0"/>
              </a:rPr>
              <a:t>reduzir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Garamond" panose="02020404030301010803" pitchFamily="18" charset="0"/>
              </a:rPr>
              <a:t> a desigualdade</a:t>
            </a:r>
            <a:endParaRPr lang="pt-BR" b="1" dirty="0">
              <a:solidFill>
                <a:schemeClr val="accent3">
                  <a:lumMod val="60000"/>
                  <a:lumOff val="40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446735D-412D-BF53-8FB9-0362D9F6FE77}"/>
              </a:ext>
            </a:extLst>
          </p:cNvPr>
          <p:cNvSpPr/>
          <p:nvPr/>
        </p:nvSpPr>
        <p:spPr>
          <a:xfrm>
            <a:off x="8380587" y="4878284"/>
            <a:ext cx="2425048" cy="13810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Subtítulo 2">
            <a:extLst>
              <a:ext uri="{FF2B5EF4-FFF2-40B4-BE49-F238E27FC236}">
                <a16:creationId xmlns:a16="http://schemas.microsoft.com/office/drawing/2014/main" id="{6F721A9F-2034-328A-F5DE-B48E2F501166}"/>
              </a:ext>
            </a:extLst>
          </p:cNvPr>
          <p:cNvSpPr txBox="1">
            <a:spLocks/>
          </p:cNvSpPr>
          <p:nvPr/>
        </p:nvSpPr>
        <p:spPr>
          <a:xfrm>
            <a:off x="8380587" y="5153572"/>
            <a:ext cx="2576813" cy="94869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Garamond" panose="02020404030301010803" pitchFamily="18" charset="0"/>
              </a:rPr>
              <a:t>APP contribui para </a:t>
            </a:r>
            <a:r>
              <a:rPr lang="pt-BR" sz="4900" b="1" dirty="0">
                <a:solidFill>
                  <a:srgbClr val="FF0000"/>
                </a:solidFill>
                <a:latin typeface="Garamond" panose="02020404030301010803" pitchFamily="18" charset="0"/>
              </a:rPr>
              <a:t>aumentar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Garamond" panose="02020404030301010803" pitchFamily="18" charset="0"/>
              </a:rPr>
              <a:t> a desigualdade</a:t>
            </a:r>
            <a:endParaRPr lang="pt-BR" b="1" dirty="0">
              <a:solidFill>
                <a:schemeClr val="accent3">
                  <a:lumMod val="60000"/>
                  <a:lumOff val="40000"/>
                </a:schemeClr>
              </a:solidFill>
              <a:latin typeface="Garamond" panose="02020404030301010803" pitchFamily="18" charset="0"/>
            </a:endParaRPr>
          </a:p>
        </p:txBody>
      </p:sp>
      <p:cxnSp>
        <p:nvCxnSpPr>
          <p:cNvPr id="37" name="Conector: Curvo 36">
            <a:extLst>
              <a:ext uri="{FF2B5EF4-FFF2-40B4-BE49-F238E27FC236}">
                <a16:creationId xmlns:a16="http://schemas.microsoft.com/office/drawing/2014/main" id="{F4BB8E21-D8A0-9AC0-1C78-E50E9F877FFB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 rot="5400000">
            <a:off x="987176" y="3565002"/>
            <a:ext cx="1729891" cy="1663950"/>
          </a:xfrm>
          <a:prstGeom prst="curvedConnector4">
            <a:avLst>
              <a:gd name="adj1" fmla="val 30041"/>
              <a:gd name="adj2" fmla="val 11373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Curvo 38">
            <a:extLst>
              <a:ext uri="{FF2B5EF4-FFF2-40B4-BE49-F238E27FC236}">
                <a16:creationId xmlns:a16="http://schemas.microsoft.com/office/drawing/2014/main" id="{F92058FE-7226-6692-C3B5-014584265C72}"/>
              </a:ext>
            </a:extLst>
          </p:cNvPr>
          <p:cNvCxnSpPr>
            <a:cxnSpLocks/>
            <a:stCxn id="19" idx="1"/>
            <a:endCxn id="9" idx="3"/>
          </p:cNvCxnSpPr>
          <p:nvPr/>
        </p:nvCxnSpPr>
        <p:spPr>
          <a:xfrm rot="10800000" flipV="1">
            <a:off x="4537787" y="2018941"/>
            <a:ext cx="2901972" cy="3242981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F3027699-3349-0B16-0D4C-90E40A0A112B}"/>
              </a:ext>
            </a:extLst>
          </p:cNvPr>
          <p:cNvGrpSpPr/>
          <p:nvPr/>
        </p:nvGrpSpPr>
        <p:grpSpPr>
          <a:xfrm>
            <a:off x="174463" y="309908"/>
            <a:ext cx="6002110" cy="466830"/>
            <a:chOff x="0" y="588001"/>
            <a:chExt cx="6002110" cy="466830"/>
          </a:xfrm>
        </p:grpSpPr>
        <p:sp>
          <p:nvSpPr>
            <p:cNvPr id="57" name="Retângulo: Cantos Arredondados 56">
              <a:extLst>
                <a:ext uri="{FF2B5EF4-FFF2-40B4-BE49-F238E27FC236}">
                  <a16:creationId xmlns:a16="http://schemas.microsoft.com/office/drawing/2014/main" id="{8251CD85-E035-9590-779C-6C36467711A7}"/>
                </a:ext>
              </a:extLst>
            </p:cNvPr>
            <p:cNvSpPr/>
            <p:nvPr/>
          </p:nvSpPr>
          <p:spPr>
            <a:xfrm>
              <a:off x="0" y="588001"/>
              <a:ext cx="6002110" cy="46683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2025358"/>
                <a:satOff val="-138"/>
                <a:lumOff val="327"/>
                <a:alphaOff val="0"/>
              </a:schemeClr>
            </a:fillRef>
            <a:effectRef idx="0">
              <a:schemeClr val="accent5">
                <a:hueOff val="-2025358"/>
                <a:satOff val="-138"/>
                <a:lumOff val="32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8" name="Retângulo: Cantos Arredondados 4">
              <a:extLst>
                <a:ext uri="{FF2B5EF4-FFF2-40B4-BE49-F238E27FC236}">
                  <a16:creationId xmlns:a16="http://schemas.microsoft.com/office/drawing/2014/main" id="{819285B1-29DE-AE7A-333B-EE173613F07D}"/>
                </a:ext>
              </a:extLst>
            </p:cNvPr>
            <p:cNvSpPr txBox="1"/>
            <p:nvPr/>
          </p:nvSpPr>
          <p:spPr>
            <a:xfrm>
              <a:off x="22789" y="610790"/>
              <a:ext cx="5956532" cy="4212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900" kern="1200" dirty="0"/>
                <a:t>Motivação</a:t>
              </a:r>
              <a:endParaRPr lang="en-US" sz="1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2825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  <p:bldP spid="9" grpId="0" animBg="1"/>
      <p:bldP spid="10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/>
      <p:bldP spid="28" grpId="0"/>
      <p:bldP spid="29" grpId="0" animBg="1"/>
      <p:bldP spid="30" grpId="0"/>
      <p:bldP spid="31" grpId="0" animBg="1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4CBBC-00FD-87E0-5E04-34A070679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a 2">
                <a:extLst>
                  <a:ext uri="{FF2B5EF4-FFF2-40B4-BE49-F238E27FC236}">
                    <a16:creationId xmlns:a16="http://schemas.microsoft.com/office/drawing/2014/main" id="{AD6177BB-E955-5C88-0647-0FA6431172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2095549"/>
                  </p:ext>
                </p:extLst>
              </p:nvPr>
            </p:nvGraphicFramePr>
            <p:xfrm>
              <a:off x="1207149" y="1643524"/>
              <a:ext cx="2553087" cy="153273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0247">
                      <a:extLst>
                        <a:ext uri="{9D8B030D-6E8A-4147-A177-3AD203B41FA5}">
                          <a16:colId xmlns:a16="http://schemas.microsoft.com/office/drawing/2014/main" val="1884990757"/>
                        </a:ext>
                      </a:extLst>
                    </a:gridCol>
                    <a:gridCol w="724280">
                      <a:extLst>
                        <a:ext uri="{9D8B030D-6E8A-4147-A177-3AD203B41FA5}">
                          <a16:colId xmlns:a16="http://schemas.microsoft.com/office/drawing/2014/main" val="2624747336"/>
                        </a:ext>
                      </a:extLst>
                    </a:gridCol>
                    <a:gridCol w="724280">
                      <a:extLst>
                        <a:ext uri="{9D8B030D-6E8A-4147-A177-3AD203B41FA5}">
                          <a16:colId xmlns:a16="http://schemas.microsoft.com/office/drawing/2014/main" val="3842402599"/>
                        </a:ext>
                      </a:extLst>
                    </a:gridCol>
                    <a:gridCol w="724280">
                      <a:extLst>
                        <a:ext uri="{9D8B030D-6E8A-4147-A177-3AD203B41FA5}">
                          <a16:colId xmlns:a16="http://schemas.microsoft.com/office/drawing/2014/main" val="2731116934"/>
                        </a:ext>
                      </a:extLst>
                    </a:gridCol>
                  </a:tblGrid>
                  <a:tr h="5083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𝒕𝒓𝒂𝒃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𝒂𝒑𝒐𝒔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9391176"/>
                      </a:ext>
                    </a:extLst>
                  </a:tr>
                  <a:tr h="3414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pt-BR" sz="180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724626"/>
                      </a:ext>
                    </a:extLst>
                  </a:tr>
                  <a:tr h="3414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pt-BR" sz="180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2587025"/>
                      </a:ext>
                    </a:extLst>
                  </a:tr>
                  <a:tr h="3414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pt-BR" sz="180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2570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a 2">
                <a:extLst>
                  <a:ext uri="{FF2B5EF4-FFF2-40B4-BE49-F238E27FC236}">
                    <a16:creationId xmlns:a16="http://schemas.microsoft.com/office/drawing/2014/main" id="{AD6177BB-E955-5C88-0647-0FA6431172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2095549"/>
                  </p:ext>
                </p:extLst>
              </p:nvPr>
            </p:nvGraphicFramePr>
            <p:xfrm>
              <a:off x="1207149" y="1643524"/>
              <a:ext cx="2553087" cy="153273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0247">
                      <a:extLst>
                        <a:ext uri="{9D8B030D-6E8A-4147-A177-3AD203B41FA5}">
                          <a16:colId xmlns:a16="http://schemas.microsoft.com/office/drawing/2014/main" val="1884990757"/>
                        </a:ext>
                      </a:extLst>
                    </a:gridCol>
                    <a:gridCol w="724280">
                      <a:extLst>
                        <a:ext uri="{9D8B030D-6E8A-4147-A177-3AD203B41FA5}">
                          <a16:colId xmlns:a16="http://schemas.microsoft.com/office/drawing/2014/main" val="2624747336"/>
                        </a:ext>
                      </a:extLst>
                    </a:gridCol>
                    <a:gridCol w="724280">
                      <a:extLst>
                        <a:ext uri="{9D8B030D-6E8A-4147-A177-3AD203B41FA5}">
                          <a16:colId xmlns:a16="http://schemas.microsoft.com/office/drawing/2014/main" val="3842402599"/>
                        </a:ext>
                      </a:extLst>
                    </a:gridCol>
                    <a:gridCol w="724280">
                      <a:extLst>
                        <a:ext uri="{9D8B030D-6E8A-4147-A177-3AD203B41FA5}">
                          <a16:colId xmlns:a16="http://schemas.microsoft.com/office/drawing/2014/main" val="2731116934"/>
                        </a:ext>
                      </a:extLst>
                    </a:gridCol>
                  </a:tblGrid>
                  <a:tr h="50830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190" r="-577419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101" t="-1190" r="-200840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2101" t="-1190" r="-100840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2101" t="-1190" r="-840" b="-22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391176"/>
                      </a:ext>
                    </a:extLst>
                  </a:tr>
                  <a:tr h="3414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pt-BR" sz="180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724626"/>
                      </a:ext>
                    </a:extLst>
                  </a:tr>
                  <a:tr h="3414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pt-BR" sz="180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2587025"/>
                      </a:ext>
                    </a:extLst>
                  </a:tr>
                  <a:tr h="3414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pt-BR" sz="180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25703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7C05BBDD-73E2-6CB4-5161-54EE6FF477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6821579"/>
                  </p:ext>
                </p:extLst>
              </p:nvPr>
            </p:nvGraphicFramePr>
            <p:xfrm>
              <a:off x="1207149" y="4044601"/>
              <a:ext cx="2553087" cy="153273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0247">
                      <a:extLst>
                        <a:ext uri="{9D8B030D-6E8A-4147-A177-3AD203B41FA5}">
                          <a16:colId xmlns:a16="http://schemas.microsoft.com/office/drawing/2014/main" val="1884990757"/>
                        </a:ext>
                      </a:extLst>
                    </a:gridCol>
                    <a:gridCol w="724280">
                      <a:extLst>
                        <a:ext uri="{9D8B030D-6E8A-4147-A177-3AD203B41FA5}">
                          <a16:colId xmlns:a16="http://schemas.microsoft.com/office/drawing/2014/main" val="2624747336"/>
                        </a:ext>
                      </a:extLst>
                    </a:gridCol>
                    <a:gridCol w="724280">
                      <a:extLst>
                        <a:ext uri="{9D8B030D-6E8A-4147-A177-3AD203B41FA5}">
                          <a16:colId xmlns:a16="http://schemas.microsoft.com/office/drawing/2014/main" val="3842402599"/>
                        </a:ext>
                      </a:extLst>
                    </a:gridCol>
                    <a:gridCol w="724280">
                      <a:extLst>
                        <a:ext uri="{9D8B030D-6E8A-4147-A177-3AD203B41FA5}">
                          <a16:colId xmlns:a16="http://schemas.microsoft.com/office/drawing/2014/main" val="2731116934"/>
                        </a:ext>
                      </a:extLst>
                    </a:gridCol>
                  </a:tblGrid>
                  <a:tr h="5083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𝒕𝒓𝒂𝒃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𝒂𝒑𝒐𝒔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9391176"/>
                      </a:ext>
                    </a:extLst>
                  </a:tr>
                  <a:tr h="3414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724626"/>
                      </a:ext>
                    </a:extLst>
                  </a:tr>
                  <a:tr h="3414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2587025"/>
                      </a:ext>
                    </a:extLst>
                  </a:tr>
                  <a:tr h="3414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2570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7C05BBDD-73E2-6CB4-5161-54EE6FF477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6821579"/>
                  </p:ext>
                </p:extLst>
              </p:nvPr>
            </p:nvGraphicFramePr>
            <p:xfrm>
              <a:off x="1207149" y="4044601"/>
              <a:ext cx="2553087" cy="153273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0247">
                      <a:extLst>
                        <a:ext uri="{9D8B030D-6E8A-4147-A177-3AD203B41FA5}">
                          <a16:colId xmlns:a16="http://schemas.microsoft.com/office/drawing/2014/main" val="1884990757"/>
                        </a:ext>
                      </a:extLst>
                    </a:gridCol>
                    <a:gridCol w="724280">
                      <a:extLst>
                        <a:ext uri="{9D8B030D-6E8A-4147-A177-3AD203B41FA5}">
                          <a16:colId xmlns:a16="http://schemas.microsoft.com/office/drawing/2014/main" val="2624747336"/>
                        </a:ext>
                      </a:extLst>
                    </a:gridCol>
                    <a:gridCol w="724280">
                      <a:extLst>
                        <a:ext uri="{9D8B030D-6E8A-4147-A177-3AD203B41FA5}">
                          <a16:colId xmlns:a16="http://schemas.microsoft.com/office/drawing/2014/main" val="3842402599"/>
                        </a:ext>
                      </a:extLst>
                    </a:gridCol>
                    <a:gridCol w="724280">
                      <a:extLst>
                        <a:ext uri="{9D8B030D-6E8A-4147-A177-3AD203B41FA5}">
                          <a16:colId xmlns:a16="http://schemas.microsoft.com/office/drawing/2014/main" val="2731116934"/>
                        </a:ext>
                      </a:extLst>
                    </a:gridCol>
                  </a:tblGrid>
                  <a:tr h="50830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190" r="-577419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101" t="-1190" r="-200840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2101" t="-1190" r="-100840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2101" t="-1190" r="-840" b="-22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391176"/>
                      </a:ext>
                    </a:extLst>
                  </a:tr>
                  <a:tr h="3414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724626"/>
                      </a:ext>
                    </a:extLst>
                  </a:tr>
                  <a:tr h="3414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2587025"/>
                      </a:ext>
                    </a:extLst>
                  </a:tr>
                  <a:tr h="3414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257038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Imagem 8">
            <a:extLst>
              <a:ext uri="{FF2B5EF4-FFF2-40B4-BE49-F238E27FC236}">
                <a16:creationId xmlns:a16="http://schemas.microsoft.com/office/drawing/2014/main" id="{E437E9A8-9063-D7D0-A248-8EFDD9F2D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8935" y="909000"/>
            <a:ext cx="5040000" cy="504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8EDD8A7-C356-5C32-07C1-488D133FF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935" y="909000"/>
            <a:ext cx="5040000" cy="5040000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654D675-AED4-0E74-8E66-C75299448C1D}"/>
              </a:ext>
            </a:extLst>
          </p:cNvPr>
          <p:cNvGrpSpPr/>
          <p:nvPr/>
        </p:nvGrpSpPr>
        <p:grpSpPr>
          <a:xfrm>
            <a:off x="174463" y="309908"/>
            <a:ext cx="6002110" cy="466830"/>
            <a:chOff x="0" y="588001"/>
            <a:chExt cx="6002110" cy="466830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CA823792-B106-907E-9756-D6999C4414F0}"/>
                </a:ext>
              </a:extLst>
            </p:cNvPr>
            <p:cNvSpPr/>
            <p:nvPr/>
          </p:nvSpPr>
          <p:spPr>
            <a:xfrm>
              <a:off x="0" y="588001"/>
              <a:ext cx="6002110" cy="46683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2025358"/>
                <a:satOff val="-138"/>
                <a:lumOff val="327"/>
                <a:alphaOff val="0"/>
              </a:schemeClr>
            </a:fillRef>
            <a:effectRef idx="0">
              <a:schemeClr val="accent5">
                <a:hueOff val="-2025358"/>
                <a:satOff val="-138"/>
                <a:lumOff val="32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tângulo: Cantos Arredondados 4">
              <a:extLst>
                <a:ext uri="{FF2B5EF4-FFF2-40B4-BE49-F238E27FC236}">
                  <a16:creationId xmlns:a16="http://schemas.microsoft.com/office/drawing/2014/main" id="{9FC603DD-5054-9CF0-6769-8F85710AAA15}"/>
                </a:ext>
              </a:extLst>
            </p:cNvPr>
            <p:cNvSpPr txBox="1"/>
            <p:nvPr/>
          </p:nvSpPr>
          <p:spPr>
            <a:xfrm>
              <a:off x="22789" y="610790"/>
              <a:ext cx="5956532" cy="4212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900" kern="1200" dirty="0"/>
                <a:t>Motivação</a:t>
              </a:r>
              <a:endParaRPr lang="en-US" sz="1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1679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A1D68-175D-ADF3-84B1-592E7744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E186D72-A4AA-6FC5-9B9C-F1D2B5893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515" y="559435"/>
            <a:ext cx="5040000" cy="504000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C94968F4-1AE9-9D6A-DC6A-B83ED1E6C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515" y="559435"/>
            <a:ext cx="5040000" cy="50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1A21CFC3-36BF-4807-17F0-A4D0B44295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4422906"/>
                  </p:ext>
                </p:extLst>
              </p:nvPr>
            </p:nvGraphicFramePr>
            <p:xfrm>
              <a:off x="1186471" y="819071"/>
              <a:ext cx="3317437" cy="271883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94086">
                      <a:extLst>
                        <a:ext uri="{9D8B030D-6E8A-4147-A177-3AD203B41FA5}">
                          <a16:colId xmlns:a16="http://schemas.microsoft.com/office/drawing/2014/main" val="2624795830"/>
                        </a:ext>
                      </a:extLst>
                    </a:gridCol>
                    <a:gridCol w="941117">
                      <a:extLst>
                        <a:ext uri="{9D8B030D-6E8A-4147-A177-3AD203B41FA5}">
                          <a16:colId xmlns:a16="http://schemas.microsoft.com/office/drawing/2014/main" val="329564889"/>
                        </a:ext>
                      </a:extLst>
                    </a:gridCol>
                    <a:gridCol w="941117">
                      <a:extLst>
                        <a:ext uri="{9D8B030D-6E8A-4147-A177-3AD203B41FA5}">
                          <a16:colId xmlns:a16="http://schemas.microsoft.com/office/drawing/2014/main" val="3028817333"/>
                        </a:ext>
                      </a:extLst>
                    </a:gridCol>
                    <a:gridCol w="941117">
                      <a:extLst>
                        <a:ext uri="{9D8B030D-6E8A-4147-A177-3AD203B41FA5}">
                          <a16:colId xmlns:a16="http://schemas.microsoft.com/office/drawing/2014/main" val="1134813284"/>
                        </a:ext>
                      </a:extLst>
                    </a:gridCol>
                  </a:tblGrid>
                  <a:tr h="46682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0" i="1" kern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0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kern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kern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0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kern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pt-BR" sz="2400" b="0" i="1" kern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0" i="1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400" b="0" i="0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pt-BR" sz="2400" b="0" i="1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400" b="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29743683"/>
                      </a:ext>
                    </a:extLst>
                  </a:tr>
                  <a:tr h="4393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0,20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0,03</a:t>
                          </a:r>
                          <a:endParaRPr lang="pt-BR" sz="2400" b="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7309148"/>
                      </a:ext>
                    </a:extLst>
                  </a:tr>
                  <a:tr h="4393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0,40</a:t>
                          </a:r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0,05</a:t>
                          </a:r>
                          <a:endParaRPr lang="pt-BR" sz="2400" b="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45601556"/>
                      </a:ext>
                    </a:extLst>
                  </a:tr>
                  <a:tr h="4393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0,60</a:t>
                          </a:r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0,11</a:t>
                          </a:r>
                          <a:endParaRPr lang="pt-BR" sz="2400" b="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2373443"/>
                      </a:ext>
                    </a:extLst>
                  </a:tr>
                  <a:tr h="4393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0,80</a:t>
                          </a:r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0,26</a:t>
                          </a:r>
                          <a:endParaRPr lang="pt-BR" sz="2400" b="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9431210"/>
                      </a:ext>
                    </a:extLst>
                  </a:tr>
                  <a:tr h="4393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2400" b="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84422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1A21CFC3-36BF-4807-17F0-A4D0B44295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4422906"/>
                  </p:ext>
                </p:extLst>
              </p:nvPr>
            </p:nvGraphicFramePr>
            <p:xfrm>
              <a:off x="1186471" y="819071"/>
              <a:ext cx="3317437" cy="271883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94086">
                      <a:extLst>
                        <a:ext uri="{9D8B030D-6E8A-4147-A177-3AD203B41FA5}">
                          <a16:colId xmlns:a16="http://schemas.microsoft.com/office/drawing/2014/main" val="2624795830"/>
                        </a:ext>
                      </a:extLst>
                    </a:gridCol>
                    <a:gridCol w="941117">
                      <a:extLst>
                        <a:ext uri="{9D8B030D-6E8A-4147-A177-3AD203B41FA5}">
                          <a16:colId xmlns:a16="http://schemas.microsoft.com/office/drawing/2014/main" val="329564889"/>
                        </a:ext>
                      </a:extLst>
                    </a:gridCol>
                    <a:gridCol w="941117">
                      <a:extLst>
                        <a:ext uri="{9D8B030D-6E8A-4147-A177-3AD203B41FA5}">
                          <a16:colId xmlns:a16="http://schemas.microsoft.com/office/drawing/2014/main" val="3028817333"/>
                        </a:ext>
                      </a:extLst>
                    </a:gridCol>
                    <a:gridCol w="941117">
                      <a:extLst>
                        <a:ext uri="{9D8B030D-6E8A-4147-A177-3AD203B41FA5}">
                          <a16:colId xmlns:a16="http://schemas.microsoft.com/office/drawing/2014/main" val="1134813284"/>
                        </a:ext>
                      </a:extLst>
                    </a:gridCol>
                  </a:tblGrid>
                  <a:tr h="52222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163" r="-574074" b="-45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258" t="-1163" r="-200000" b="-45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3247" t="-1163" r="-101299" b="-45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1613" t="-1163" r="-645" b="-45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9743683"/>
                      </a:ext>
                    </a:extLst>
                  </a:tr>
                  <a:tr h="4393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0,20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0,03</a:t>
                          </a:r>
                          <a:endParaRPr lang="pt-BR" sz="2400" b="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7309148"/>
                      </a:ext>
                    </a:extLst>
                  </a:tr>
                  <a:tr h="4393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0,40</a:t>
                          </a:r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0,05</a:t>
                          </a:r>
                          <a:endParaRPr lang="pt-BR" sz="2400" b="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45601556"/>
                      </a:ext>
                    </a:extLst>
                  </a:tr>
                  <a:tr h="4393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0,60</a:t>
                          </a:r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0,11</a:t>
                          </a:r>
                          <a:endParaRPr lang="pt-BR" sz="2400" b="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2373443"/>
                      </a:ext>
                    </a:extLst>
                  </a:tr>
                  <a:tr h="4393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0,80</a:t>
                          </a:r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0,26</a:t>
                          </a:r>
                          <a:endParaRPr lang="pt-BR" sz="2400" b="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9431210"/>
                      </a:ext>
                    </a:extLst>
                  </a:tr>
                  <a:tr h="4393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2400" b="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2400" b="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2400" b="0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2400" b="0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84422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0B42A5A-5C3D-87B2-F3E3-541A53DB3A16}"/>
                  </a:ext>
                </a:extLst>
              </p:cNvPr>
              <p:cNvSpPr txBox="1"/>
              <p:nvPr/>
            </p:nvSpPr>
            <p:spPr>
              <a:xfrm>
                <a:off x="474167" y="4547600"/>
                <a:ext cx="3677358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=1−2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0B42A5A-5C3D-87B2-F3E3-541A53DB3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67" y="4547600"/>
                <a:ext cx="3677358" cy="738664"/>
              </a:xfrm>
              <a:prstGeom prst="rect">
                <a:avLst/>
              </a:prstGeom>
              <a:blipFill>
                <a:blip r:embed="rId5"/>
                <a:stretch>
                  <a:fillRect t="-8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456452-7413-CDA0-ADB6-C7C0CC6BDA04}"/>
              </a:ext>
            </a:extLst>
          </p:cNvPr>
          <p:cNvSpPr txBox="1"/>
          <p:nvPr/>
        </p:nvSpPr>
        <p:spPr>
          <a:xfrm>
            <a:off x="1391453" y="3996586"/>
            <a:ext cx="2538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Garamond" panose="02020404030301010803" pitchFamily="18" charset="0"/>
              </a:rPr>
              <a:t>Índice de Gini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BA61BC-2533-90B0-5457-BB8F810C5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4515" y="559435"/>
            <a:ext cx="5040000" cy="50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04F47FE-7FC5-1881-D81D-78A7FD70B098}"/>
                  </a:ext>
                </a:extLst>
              </p:cNvPr>
              <p:cNvSpPr txBox="1"/>
              <p:nvPr/>
            </p:nvSpPr>
            <p:spPr>
              <a:xfrm>
                <a:off x="474167" y="5190947"/>
                <a:ext cx="36773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=0,62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04F47FE-7FC5-1881-D81D-78A7FD70B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67" y="5190947"/>
                <a:ext cx="3677358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Agrupar 8">
            <a:extLst>
              <a:ext uri="{FF2B5EF4-FFF2-40B4-BE49-F238E27FC236}">
                <a16:creationId xmlns:a16="http://schemas.microsoft.com/office/drawing/2014/main" id="{2CC5EE77-DFDB-3739-4C20-7981CBB2ACBF}"/>
              </a:ext>
            </a:extLst>
          </p:cNvPr>
          <p:cNvGrpSpPr/>
          <p:nvPr/>
        </p:nvGrpSpPr>
        <p:grpSpPr>
          <a:xfrm>
            <a:off x="474167" y="114690"/>
            <a:ext cx="6002110" cy="491400"/>
            <a:chOff x="0" y="1401203"/>
            <a:chExt cx="6002110" cy="491400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B905CAE2-9A76-58DC-1D5B-2D5CC691EDF7}"/>
                </a:ext>
              </a:extLst>
            </p:cNvPr>
            <p:cNvSpPr/>
            <p:nvPr/>
          </p:nvSpPr>
          <p:spPr>
            <a:xfrm>
              <a:off x="0" y="1401203"/>
              <a:ext cx="6002110" cy="4914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860860"/>
                <a:satOff val="-330"/>
                <a:lumOff val="784"/>
                <a:alphaOff val="0"/>
              </a:schemeClr>
            </a:fillRef>
            <a:effectRef idx="0">
              <a:schemeClr val="accent5">
                <a:hueOff val="-4860860"/>
                <a:satOff val="-330"/>
                <a:lumOff val="78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Retângulo: Cantos Arredondados 4">
              <a:extLst>
                <a:ext uri="{FF2B5EF4-FFF2-40B4-BE49-F238E27FC236}">
                  <a16:creationId xmlns:a16="http://schemas.microsoft.com/office/drawing/2014/main" id="{55CE40EE-0A5C-13C9-3739-89A5CC278BAE}"/>
                </a:ext>
              </a:extLst>
            </p:cNvPr>
            <p:cNvSpPr txBox="1"/>
            <p:nvPr/>
          </p:nvSpPr>
          <p:spPr>
            <a:xfrm>
              <a:off x="23988" y="1425191"/>
              <a:ext cx="5954134" cy="4434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000" kern="1200" dirty="0"/>
                <a:t>Curvas de Concentração e Razão de Concentração</a:t>
              </a:r>
              <a:endParaRPr lang="en-US" sz="20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7075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7D898-A818-16C2-EEB5-1DA1883C9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4D52E9C-8189-027B-8C54-AFFF9DFA4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382" y="557684"/>
            <a:ext cx="5040000" cy="50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791CA084-89B3-B359-6AEC-94D1CD588C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9082270"/>
                  </p:ext>
                </p:extLst>
              </p:nvPr>
            </p:nvGraphicFramePr>
            <p:xfrm>
              <a:off x="809152" y="1188722"/>
              <a:ext cx="4336778" cy="22402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02566">
                      <a:extLst>
                        <a:ext uri="{9D8B030D-6E8A-4147-A177-3AD203B41FA5}">
                          <a16:colId xmlns:a16="http://schemas.microsoft.com/office/drawing/2014/main" val="282628636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59638397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4075325100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3798111100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1819520136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686811596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297229240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2940539069"/>
                        </a:ext>
                      </a:extLst>
                    </a:gridCol>
                  </a:tblGrid>
                  <a:tr h="4864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𝟏</m:t>
                                    </m:r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𝟐</m:t>
                                    </m:r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𝟑</m:t>
                                    </m:r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𝜱</m:t>
                                    </m:r>
                                  </m:e>
                                  <m:sub>
                                    <m:r>
                                      <a:rPr lang="pt-BR" sz="1800" b="1" i="1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𝜱</m:t>
                                    </m:r>
                                  </m:e>
                                  <m:sub>
                                    <m:r>
                                      <a:rPr lang="pt-BR" sz="1800" b="1" i="1" kern="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𝟏</m:t>
                                    </m:r>
                                    <m:r>
                                      <a:rPr lang="pt-BR" sz="1800" b="1" i="1" kern="0" smtClean="0">
                                        <a:solidFill>
                                          <a:srgbClr val="00B05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b="1" kern="100" dirty="0">
                            <a:solidFill>
                              <a:srgbClr val="00B05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5472867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0,03</a:t>
                          </a:r>
                          <a:endParaRPr lang="pt-BR" sz="1800" b="1" kern="10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0,50</a:t>
                          </a:r>
                          <a:endParaRPr lang="pt-BR" sz="1800" b="1" kern="100" dirty="0">
                            <a:solidFill>
                              <a:srgbClr val="00B05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6218977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0,40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0,05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B05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3703324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0,60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0,11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B05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1416728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0,26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B05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3183794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B05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15512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791CA084-89B3-B359-6AEC-94D1CD588C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9082270"/>
                  </p:ext>
                </p:extLst>
              </p:nvPr>
            </p:nvGraphicFramePr>
            <p:xfrm>
              <a:off x="809152" y="1188722"/>
              <a:ext cx="4336778" cy="22402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02566">
                      <a:extLst>
                        <a:ext uri="{9D8B030D-6E8A-4147-A177-3AD203B41FA5}">
                          <a16:colId xmlns:a16="http://schemas.microsoft.com/office/drawing/2014/main" val="282628636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59638397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4075325100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3798111100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1819520136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686811596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297229240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2940539069"/>
                        </a:ext>
                      </a:extLst>
                    </a:gridCol>
                  </a:tblGrid>
                  <a:tr h="48645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500" r="-1328000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191" t="-2500" r="-606383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579" t="-2500" r="-500000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1579" t="-2500" r="-400000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1579" t="-2500" r="-300000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6383" t="-2500" r="-203191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50526" t="-2500" r="-101053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50526" t="-2500" r="-1053" b="-3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5472867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0,03</a:t>
                          </a:r>
                          <a:endParaRPr lang="pt-BR" sz="1800" b="1" kern="10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0,50</a:t>
                          </a:r>
                          <a:endParaRPr lang="pt-BR" sz="1800" b="1" kern="100" dirty="0">
                            <a:solidFill>
                              <a:srgbClr val="00B05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6218977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0,40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0,05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B05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3703324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0,60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0,11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B05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1416728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0,26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B05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3183794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B05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15512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Imagem 15">
            <a:extLst>
              <a:ext uri="{FF2B5EF4-FFF2-40B4-BE49-F238E27FC236}">
                <a16:creationId xmlns:a16="http://schemas.microsoft.com/office/drawing/2014/main" id="{FAEE46B2-84E0-6E2E-E460-7327F6037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382" y="557684"/>
            <a:ext cx="5040000" cy="504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24247BB-E175-1ED7-D5FF-DE031933F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382" y="557684"/>
            <a:ext cx="5040000" cy="50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06ACD1C2-BCB3-B3F1-DEA9-F3D2906EA08D}"/>
                  </a:ext>
                </a:extLst>
              </p:cNvPr>
              <p:cNvSpPr txBox="1"/>
              <p:nvPr/>
            </p:nvSpPr>
            <p:spPr>
              <a:xfrm>
                <a:off x="651448" y="4916933"/>
                <a:ext cx="3677358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=1−2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06ACD1C2-BCB3-B3F1-DEA9-F3D2906EA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48" y="4916933"/>
                <a:ext cx="3677358" cy="738664"/>
              </a:xfrm>
              <a:prstGeom prst="rect">
                <a:avLst/>
              </a:prstGeom>
              <a:blipFill>
                <a:blip r:embed="rId6"/>
                <a:stretch>
                  <a:fillRect t="-8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028C3C86-09EA-02E7-139B-B39836736514}"/>
              </a:ext>
            </a:extLst>
          </p:cNvPr>
          <p:cNvSpPr txBox="1"/>
          <p:nvPr/>
        </p:nvSpPr>
        <p:spPr>
          <a:xfrm>
            <a:off x="1400783" y="4377447"/>
            <a:ext cx="3297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Garamond" panose="02020404030301010803" pitchFamily="18" charset="0"/>
              </a:rPr>
              <a:t>Razão de Concentração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CAE14E23-DBEB-ED86-C0AD-64CF9E751D53}"/>
                  </a:ext>
                </a:extLst>
              </p:cNvPr>
              <p:cNvSpPr txBox="1"/>
              <p:nvPr/>
            </p:nvSpPr>
            <p:spPr>
              <a:xfrm>
                <a:off x="3480420" y="4916933"/>
                <a:ext cx="17963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−1&lt;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CAE14E23-DBEB-ED86-C0AD-64CF9E751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420" y="4916933"/>
                <a:ext cx="179630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90E84761-44F4-7F0D-57EC-0592428740A8}"/>
                  </a:ext>
                </a:extLst>
              </p:cNvPr>
              <p:cNvSpPr txBox="1"/>
              <p:nvPr/>
            </p:nvSpPr>
            <p:spPr>
              <a:xfrm>
                <a:off x="651448" y="5447088"/>
                <a:ext cx="3677358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=−60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90E84761-44F4-7F0D-57EC-059242874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48" y="5447088"/>
                <a:ext cx="3677358" cy="7386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Agrupar 20">
            <a:extLst>
              <a:ext uri="{FF2B5EF4-FFF2-40B4-BE49-F238E27FC236}">
                <a16:creationId xmlns:a16="http://schemas.microsoft.com/office/drawing/2014/main" id="{AD6B0D96-E164-8596-ECA4-B2D1E569E93C}"/>
              </a:ext>
            </a:extLst>
          </p:cNvPr>
          <p:cNvGrpSpPr/>
          <p:nvPr/>
        </p:nvGrpSpPr>
        <p:grpSpPr>
          <a:xfrm>
            <a:off x="474167" y="114690"/>
            <a:ext cx="6002110" cy="491400"/>
            <a:chOff x="0" y="1401203"/>
            <a:chExt cx="6002110" cy="491400"/>
          </a:xfrm>
        </p:grpSpPr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E8175717-4641-F8B1-EBC6-1D9C219D0B97}"/>
                </a:ext>
              </a:extLst>
            </p:cNvPr>
            <p:cNvSpPr/>
            <p:nvPr/>
          </p:nvSpPr>
          <p:spPr>
            <a:xfrm>
              <a:off x="0" y="1401203"/>
              <a:ext cx="6002110" cy="4914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860860"/>
                <a:satOff val="-330"/>
                <a:lumOff val="784"/>
                <a:alphaOff val="0"/>
              </a:schemeClr>
            </a:fillRef>
            <a:effectRef idx="0">
              <a:schemeClr val="accent5">
                <a:hueOff val="-4860860"/>
                <a:satOff val="-330"/>
                <a:lumOff val="78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tângulo: Cantos Arredondados 4">
              <a:extLst>
                <a:ext uri="{FF2B5EF4-FFF2-40B4-BE49-F238E27FC236}">
                  <a16:creationId xmlns:a16="http://schemas.microsoft.com/office/drawing/2014/main" id="{47D61386-F1B9-B91F-A561-35C1DC58ACCD}"/>
                </a:ext>
              </a:extLst>
            </p:cNvPr>
            <p:cNvSpPr txBox="1"/>
            <p:nvPr/>
          </p:nvSpPr>
          <p:spPr>
            <a:xfrm>
              <a:off x="23988" y="1425191"/>
              <a:ext cx="5954134" cy="4434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000" kern="1200" dirty="0"/>
                <a:t>Curvas de Concentração e Razão de Concentração</a:t>
              </a:r>
              <a:endParaRPr lang="en-US" sz="20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4539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44347-DB60-B826-38F5-F9E2F3C63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AADF9904-6FE3-E73A-E2FF-F26EC14F0D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7424849"/>
                  </p:ext>
                </p:extLst>
              </p:nvPr>
            </p:nvGraphicFramePr>
            <p:xfrm>
              <a:off x="809152" y="1188722"/>
              <a:ext cx="4336778" cy="22402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02566">
                      <a:extLst>
                        <a:ext uri="{9D8B030D-6E8A-4147-A177-3AD203B41FA5}">
                          <a16:colId xmlns:a16="http://schemas.microsoft.com/office/drawing/2014/main" val="282628636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59638397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4075325100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3798111100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1819520136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686811596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297229240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2940539069"/>
                        </a:ext>
                      </a:extLst>
                    </a:gridCol>
                  </a:tblGrid>
                  <a:tr h="4864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𝟏</m:t>
                                    </m:r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𝟐</m:t>
                                    </m:r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𝟑</m:t>
                                    </m:r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𝜱</m:t>
                                    </m:r>
                                  </m:e>
                                  <m:sub>
                                    <m:r>
                                      <a:rPr lang="pt-BR" sz="1800" b="1" i="1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𝜱</m:t>
                                    </m:r>
                                  </m:e>
                                  <m:sub>
                                    <m:r>
                                      <a:rPr lang="pt-BR" sz="1800" b="1" i="1" kern="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𝟐</m:t>
                                    </m:r>
                                    <m:r>
                                      <a:rPr lang="pt-BR" sz="1800" b="1" i="1" kern="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b="1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5472867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0,03</a:t>
                          </a:r>
                          <a:endParaRPr lang="pt-BR" sz="1800" b="1" kern="10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0,00</a:t>
                          </a:r>
                          <a:endParaRPr lang="pt-BR" sz="1800" b="1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6218977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0,40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0,05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0,00</a:t>
                          </a:r>
                          <a:endParaRPr lang="pt-BR" sz="1800" b="1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3703324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0,60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0,11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0,50</a:t>
                          </a:r>
                          <a:endParaRPr lang="pt-BR" sz="1800" b="1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1416728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0,26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3183794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15512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AADF9904-6FE3-E73A-E2FF-F26EC14F0D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7424849"/>
                  </p:ext>
                </p:extLst>
              </p:nvPr>
            </p:nvGraphicFramePr>
            <p:xfrm>
              <a:off x="809152" y="1188722"/>
              <a:ext cx="4336778" cy="22402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02566">
                      <a:extLst>
                        <a:ext uri="{9D8B030D-6E8A-4147-A177-3AD203B41FA5}">
                          <a16:colId xmlns:a16="http://schemas.microsoft.com/office/drawing/2014/main" val="282628636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59638397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4075325100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3798111100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1819520136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686811596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297229240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2940539069"/>
                        </a:ext>
                      </a:extLst>
                    </a:gridCol>
                  </a:tblGrid>
                  <a:tr h="48645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500" r="-1328000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191" t="-2500" r="-606383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579" t="-2500" r="-500000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1579" t="-2500" r="-400000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1579" t="-2500" r="-300000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6383" t="-2500" r="-203191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50526" t="-2500" r="-101053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50526" t="-2500" r="-1053" b="-3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5472867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0,03</a:t>
                          </a:r>
                          <a:endParaRPr lang="pt-BR" sz="1800" b="1" kern="10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0,00</a:t>
                          </a:r>
                          <a:endParaRPr lang="pt-BR" sz="1800" b="1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6218977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0,40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0,05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0,00</a:t>
                          </a:r>
                          <a:endParaRPr lang="pt-BR" sz="1800" b="1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3703324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0,60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0,11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0,50</a:t>
                          </a:r>
                          <a:endParaRPr lang="pt-BR" sz="1800" b="1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1416728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0,26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3183794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FF0000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15512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96D46560-2DB0-3097-5DCF-BD149884E8EE}"/>
                  </a:ext>
                </a:extLst>
              </p:cNvPr>
              <p:cNvSpPr txBox="1"/>
              <p:nvPr/>
            </p:nvSpPr>
            <p:spPr>
              <a:xfrm>
                <a:off x="651448" y="4916933"/>
                <a:ext cx="3677358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=1−2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96D46560-2DB0-3097-5DCF-BD149884E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48" y="4916933"/>
                <a:ext cx="3677358" cy="738664"/>
              </a:xfrm>
              <a:prstGeom prst="rect">
                <a:avLst/>
              </a:prstGeom>
              <a:blipFill>
                <a:blip r:embed="rId4"/>
                <a:stretch>
                  <a:fillRect t="-8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ixaDeTexto 13">
            <a:extLst>
              <a:ext uri="{FF2B5EF4-FFF2-40B4-BE49-F238E27FC236}">
                <a16:creationId xmlns:a16="http://schemas.microsoft.com/office/drawing/2014/main" id="{A8A6D0D5-E208-C2F9-B3AA-88FAC761DBBE}"/>
              </a:ext>
            </a:extLst>
          </p:cNvPr>
          <p:cNvSpPr txBox="1"/>
          <p:nvPr/>
        </p:nvSpPr>
        <p:spPr>
          <a:xfrm>
            <a:off x="1400783" y="4377447"/>
            <a:ext cx="3297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Garamond" panose="02020404030301010803" pitchFamily="18" charset="0"/>
              </a:rPr>
              <a:t>Razão de Concentração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9DE7C06C-2F52-48E8-CB1E-F26DBD269D41}"/>
                  </a:ext>
                </a:extLst>
              </p:cNvPr>
              <p:cNvSpPr txBox="1"/>
              <p:nvPr/>
            </p:nvSpPr>
            <p:spPr>
              <a:xfrm>
                <a:off x="3480420" y="4916933"/>
                <a:ext cx="17963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−1&lt;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9DE7C06C-2F52-48E8-CB1E-F26DBD269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420" y="4916933"/>
                <a:ext cx="179630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C369CF5-528D-AD42-2E46-3E2D953C98BA}"/>
                  </a:ext>
                </a:extLst>
              </p:cNvPr>
              <p:cNvSpPr txBox="1"/>
              <p:nvPr/>
            </p:nvSpPr>
            <p:spPr>
              <a:xfrm>
                <a:off x="699727" y="5456419"/>
                <a:ext cx="3677358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C369CF5-528D-AD42-2E46-3E2D953C9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27" y="5456419"/>
                <a:ext cx="3677358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m 16">
            <a:extLst>
              <a:ext uri="{FF2B5EF4-FFF2-40B4-BE49-F238E27FC236}">
                <a16:creationId xmlns:a16="http://schemas.microsoft.com/office/drawing/2014/main" id="{D984B3E0-501C-B841-E144-3D7D4CA9E5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5212" y="550283"/>
            <a:ext cx="5040000" cy="504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FA714B3-E123-CF12-6DC4-2F1D0F0F65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5212" y="550283"/>
            <a:ext cx="5040000" cy="504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4BF059A-9527-E411-8F08-87736A665B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5212" y="550283"/>
            <a:ext cx="5040000" cy="5040000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DA57A84-B47E-AC39-A821-3994A8DDE64F}"/>
              </a:ext>
            </a:extLst>
          </p:cNvPr>
          <p:cNvGrpSpPr/>
          <p:nvPr/>
        </p:nvGrpSpPr>
        <p:grpSpPr>
          <a:xfrm>
            <a:off x="474167" y="114690"/>
            <a:ext cx="6002110" cy="491400"/>
            <a:chOff x="0" y="1401203"/>
            <a:chExt cx="6002110" cy="491400"/>
          </a:xfrm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37A2E822-D753-B7EB-7EE0-E7F90CF4AFE9}"/>
                </a:ext>
              </a:extLst>
            </p:cNvPr>
            <p:cNvSpPr/>
            <p:nvPr/>
          </p:nvSpPr>
          <p:spPr>
            <a:xfrm>
              <a:off x="0" y="1401203"/>
              <a:ext cx="6002110" cy="4914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860860"/>
                <a:satOff val="-330"/>
                <a:lumOff val="784"/>
                <a:alphaOff val="0"/>
              </a:schemeClr>
            </a:fillRef>
            <a:effectRef idx="0">
              <a:schemeClr val="accent5">
                <a:hueOff val="-4860860"/>
                <a:satOff val="-330"/>
                <a:lumOff val="78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Retângulo: Cantos Arredondados 4">
              <a:extLst>
                <a:ext uri="{FF2B5EF4-FFF2-40B4-BE49-F238E27FC236}">
                  <a16:creationId xmlns:a16="http://schemas.microsoft.com/office/drawing/2014/main" id="{4E5C87F3-1167-A01C-0313-882F1FE656BB}"/>
                </a:ext>
              </a:extLst>
            </p:cNvPr>
            <p:cNvSpPr txBox="1"/>
            <p:nvPr/>
          </p:nvSpPr>
          <p:spPr>
            <a:xfrm>
              <a:off x="23988" y="1425191"/>
              <a:ext cx="5954134" cy="4434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000" kern="1200" dirty="0"/>
                <a:t>Curvas de Concentração e Razão de Concentração</a:t>
              </a:r>
              <a:endParaRPr lang="en-US" sz="20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1293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F8C97-29FA-8B83-7375-7B3F2C829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F1FDA7CD-B7EB-9094-10F8-2E1DB141F9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913513"/>
                  </p:ext>
                </p:extLst>
              </p:nvPr>
            </p:nvGraphicFramePr>
            <p:xfrm>
              <a:off x="809152" y="1188722"/>
              <a:ext cx="4336778" cy="22402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02566">
                      <a:extLst>
                        <a:ext uri="{9D8B030D-6E8A-4147-A177-3AD203B41FA5}">
                          <a16:colId xmlns:a16="http://schemas.microsoft.com/office/drawing/2014/main" val="282628636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59638397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4075325100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3798111100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1819520136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686811596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297229240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2940539069"/>
                        </a:ext>
                      </a:extLst>
                    </a:gridCol>
                  </a:tblGrid>
                  <a:tr h="4864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𝟏</m:t>
                                    </m:r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𝟐</m:t>
                                    </m:r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𝟑</m:t>
                                    </m:r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𝜱</m:t>
                                    </m:r>
                                  </m:e>
                                  <m:sub>
                                    <m:r>
                                      <a:rPr lang="pt-BR" sz="1800" b="1" i="1" kern="0" smtClean="0">
                                        <a:solidFill>
                                          <a:srgbClr val="0000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chemeClr val="accent5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 smtClean="0">
                                        <a:solidFill>
                                          <a:schemeClr val="accent5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𝜱</m:t>
                                    </m:r>
                                  </m:e>
                                  <m:sub>
                                    <m:r>
                                      <a:rPr lang="pt-BR" sz="1800" b="1" i="1" kern="0" smtClean="0">
                                        <a:solidFill>
                                          <a:schemeClr val="accent5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𝟐</m:t>
                                    </m:r>
                                    <m:r>
                                      <a:rPr lang="pt-BR" sz="1800" b="1" i="1" kern="0" smtClean="0">
                                        <a:solidFill>
                                          <a:schemeClr val="accent5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b="1" kern="100" dirty="0">
                            <a:solidFill>
                              <a:schemeClr val="accent5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5472867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0,03</a:t>
                          </a:r>
                          <a:endParaRPr lang="pt-BR" sz="1800" b="1" kern="10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chemeClr val="accent5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0,00</a:t>
                          </a:r>
                          <a:endParaRPr lang="pt-BR" sz="1800" b="1" kern="100" dirty="0">
                            <a:solidFill>
                              <a:schemeClr val="accent5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6218977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0,40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0,05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chemeClr val="accent5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0,00</a:t>
                          </a:r>
                          <a:endParaRPr lang="pt-BR" sz="1800" b="1" kern="100" dirty="0">
                            <a:solidFill>
                              <a:schemeClr val="accent5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3703324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0,60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0,11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chemeClr val="accent5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0,50</a:t>
                          </a:r>
                          <a:endParaRPr lang="pt-BR" sz="1800" b="1" kern="100" dirty="0">
                            <a:solidFill>
                              <a:schemeClr val="accent5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1416728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0,26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chemeClr val="accent5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chemeClr val="accent5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3183794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chemeClr val="accent5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chemeClr val="accent5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15512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F1FDA7CD-B7EB-9094-10F8-2E1DB141F9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913513"/>
                  </p:ext>
                </p:extLst>
              </p:nvPr>
            </p:nvGraphicFramePr>
            <p:xfrm>
              <a:off x="809152" y="1188722"/>
              <a:ext cx="4336778" cy="22402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02566">
                      <a:extLst>
                        <a:ext uri="{9D8B030D-6E8A-4147-A177-3AD203B41FA5}">
                          <a16:colId xmlns:a16="http://schemas.microsoft.com/office/drawing/2014/main" val="282628636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59638397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4075325100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3798111100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1819520136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686811596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2972292407"/>
                        </a:ext>
                      </a:extLst>
                    </a:gridCol>
                    <a:gridCol w="576316">
                      <a:extLst>
                        <a:ext uri="{9D8B030D-6E8A-4147-A177-3AD203B41FA5}">
                          <a16:colId xmlns:a16="http://schemas.microsoft.com/office/drawing/2014/main" val="2940539069"/>
                        </a:ext>
                      </a:extLst>
                    </a:gridCol>
                  </a:tblGrid>
                  <a:tr h="48645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500" r="-1328000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191" t="-2500" r="-606383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579" t="-2500" r="-500000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1579" t="-2500" r="-400000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1579" t="-2500" r="-300000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6383" t="-2500" r="-203191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50526" t="-2500" r="-101053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50526" t="-2500" r="-1053" b="-3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5472867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0,03</a:t>
                          </a:r>
                          <a:endParaRPr lang="pt-BR" sz="1800" b="1" kern="10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chemeClr val="accent5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0,00</a:t>
                          </a:r>
                          <a:endParaRPr lang="pt-BR" sz="1800" b="1" kern="100" dirty="0">
                            <a:solidFill>
                              <a:schemeClr val="accent5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6218977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0,40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0,05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chemeClr val="accent5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0,00</a:t>
                          </a:r>
                          <a:endParaRPr lang="pt-BR" sz="1800" b="1" kern="100" dirty="0">
                            <a:solidFill>
                              <a:schemeClr val="accent5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3703324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0,60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0,11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chemeClr val="accent5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0,50</a:t>
                          </a:r>
                          <a:endParaRPr lang="pt-BR" sz="1800" b="1" kern="100" dirty="0">
                            <a:solidFill>
                              <a:schemeClr val="accent5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1416728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0,26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chemeClr val="accent5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chemeClr val="accent5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3183794"/>
                      </a:ext>
                    </a:extLst>
                  </a:tr>
                  <a:tr h="3507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1800" b="1" kern="100" dirty="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kern="100"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rgbClr val="0000FF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rgbClr val="0000FF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solidFill>
                                <a:schemeClr val="accent5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1,00</a:t>
                          </a:r>
                          <a:endParaRPr lang="pt-BR" sz="1800" b="1" kern="100" dirty="0">
                            <a:solidFill>
                              <a:schemeClr val="accent5"/>
                            </a:solidFill>
                            <a:effectLst/>
                            <a:latin typeface="Garamond" panose="02020404030301010803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15512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" name="Imagem 1">
            <a:extLst>
              <a:ext uri="{FF2B5EF4-FFF2-40B4-BE49-F238E27FC236}">
                <a16:creationId xmlns:a16="http://schemas.microsoft.com/office/drawing/2014/main" id="{4E652329-68C7-2C2A-2167-42CF2CFCE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383" y="548353"/>
            <a:ext cx="5040000" cy="5040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A4FD3BF-9EDE-8939-DC1F-5BFD612C1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383" y="548353"/>
            <a:ext cx="5040000" cy="50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E8C01BA-518F-1503-8CAA-E9157FE75148}"/>
                  </a:ext>
                </a:extLst>
              </p:cNvPr>
              <p:cNvSpPr txBox="1"/>
              <p:nvPr/>
            </p:nvSpPr>
            <p:spPr>
              <a:xfrm>
                <a:off x="651448" y="4916933"/>
                <a:ext cx="3677358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=1−2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E8C01BA-518F-1503-8CAA-E9157FE75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48" y="4916933"/>
                <a:ext cx="3677358" cy="738664"/>
              </a:xfrm>
              <a:prstGeom prst="rect">
                <a:avLst/>
              </a:prstGeom>
              <a:blipFill>
                <a:blip r:embed="rId6"/>
                <a:stretch>
                  <a:fillRect t="-8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aixaDeTexto 18">
            <a:extLst>
              <a:ext uri="{FF2B5EF4-FFF2-40B4-BE49-F238E27FC236}">
                <a16:creationId xmlns:a16="http://schemas.microsoft.com/office/drawing/2014/main" id="{83A51766-5E46-87EC-C267-17916792B930}"/>
              </a:ext>
            </a:extLst>
          </p:cNvPr>
          <p:cNvSpPr txBox="1"/>
          <p:nvPr/>
        </p:nvSpPr>
        <p:spPr>
          <a:xfrm>
            <a:off x="1400783" y="4377447"/>
            <a:ext cx="3297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Garamond" panose="02020404030301010803" pitchFamily="18" charset="0"/>
              </a:rPr>
              <a:t>Razão de Concentração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DFD7F521-394F-1F15-54D8-D6FCBAC73B22}"/>
                  </a:ext>
                </a:extLst>
              </p:cNvPr>
              <p:cNvSpPr txBox="1"/>
              <p:nvPr/>
            </p:nvSpPr>
            <p:spPr>
              <a:xfrm>
                <a:off x="3480420" y="4916933"/>
                <a:ext cx="17963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−1&lt;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DFD7F521-394F-1F15-54D8-D6FCBAC73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420" y="4916933"/>
                <a:ext cx="179630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C1C94347-600A-4338-84C2-F2A7A7CFD3B8}"/>
                  </a:ext>
                </a:extLst>
              </p:cNvPr>
              <p:cNvSpPr txBox="1"/>
              <p:nvPr/>
            </p:nvSpPr>
            <p:spPr>
              <a:xfrm>
                <a:off x="699727" y="5456419"/>
                <a:ext cx="36773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=0,75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C1C94347-600A-4338-84C2-F2A7A7CFD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27" y="5456419"/>
                <a:ext cx="3677358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m 22">
            <a:extLst>
              <a:ext uri="{FF2B5EF4-FFF2-40B4-BE49-F238E27FC236}">
                <a16:creationId xmlns:a16="http://schemas.microsoft.com/office/drawing/2014/main" id="{D64A1542-B1D0-CF9C-84F6-1F02659532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6383" y="548353"/>
            <a:ext cx="5040000" cy="5040000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9355E05-FB48-6310-59C1-B3642477F625}"/>
              </a:ext>
            </a:extLst>
          </p:cNvPr>
          <p:cNvGrpSpPr/>
          <p:nvPr/>
        </p:nvGrpSpPr>
        <p:grpSpPr>
          <a:xfrm>
            <a:off x="474167" y="114690"/>
            <a:ext cx="6002110" cy="491400"/>
            <a:chOff x="0" y="1401203"/>
            <a:chExt cx="6002110" cy="491400"/>
          </a:xfrm>
        </p:grpSpPr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CCBD39A1-2556-2573-C1A4-D7B9CE22E394}"/>
                </a:ext>
              </a:extLst>
            </p:cNvPr>
            <p:cNvSpPr/>
            <p:nvPr/>
          </p:nvSpPr>
          <p:spPr>
            <a:xfrm>
              <a:off x="0" y="1401203"/>
              <a:ext cx="6002110" cy="4914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860860"/>
                <a:satOff val="-330"/>
                <a:lumOff val="784"/>
                <a:alphaOff val="0"/>
              </a:schemeClr>
            </a:fillRef>
            <a:effectRef idx="0">
              <a:schemeClr val="accent5">
                <a:hueOff val="-4860860"/>
                <a:satOff val="-330"/>
                <a:lumOff val="78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tângulo: Cantos Arredondados 4">
              <a:extLst>
                <a:ext uri="{FF2B5EF4-FFF2-40B4-BE49-F238E27FC236}">
                  <a16:creationId xmlns:a16="http://schemas.microsoft.com/office/drawing/2014/main" id="{5FE26AE2-168A-20E6-34A0-874A3D2C52C5}"/>
                </a:ext>
              </a:extLst>
            </p:cNvPr>
            <p:cNvSpPr txBox="1"/>
            <p:nvPr/>
          </p:nvSpPr>
          <p:spPr>
            <a:xfrm>
              <a:off x="23988" y="1425191"/>
              <a:ext cx="5954134" cy="4434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000" kern="1200" dirty="0"/>
                <a:t>Curvas de Concentração e Razão de Concentração</a:t>
              </a:r>
              <a:endParaRPr lang="en-US" sz="20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537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EA028-2073-89F0-855D-C081EEA9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6045A4A-86AA-AE05-8DCA-FFF3DE3CA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515" y="559435"/>
            <a:ext cx="5040000" cy="504000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6B5C570E-A282-A7FD-8AE0-165CFF3FC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515" y="559435"/>
            <a:ext cx="5040000" cy="50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a 5">
                <a:extLst>
                  <a:ext uri="{FF2B5EF4-FFF2-40B4-BE49-F238E27FC236}">
                    <a16:creationId xmlns:a16="http://schemas.microsoft.com/office/drawing/2014/main" id="{B7564ECC-2244-EB81-BD84-8AFDDD0A118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3812" y="845536"/>
              <a:ext cx="4226768" cy="16192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53438">
                      <a:extLst>
                        <a:ext uri="{9D8B030D-6E8A-4147-A177-3AD203B41FA5}">
                          <a16:colId xmlns:a16="http://schemas.microsoft.com/office/drawing/2014/main" val="67190092"/>
                        </a:ext>
                      </a:extLst>
                    </a:gridCol>
                    <a:gridCol w="951171">
                      <a:extLst>
                        <a:ext uri="{9D8B030D-6E8A-4147-A177-3AD203B41FA5}">
                          <a16:colId xmlns:a16="http://schemas.microsoft.com/office/drawing/2014/main" val="1759738416"/>
                        </a:ext>
                      </a:extLst>
                    </a:gridCol>
                    <a:gridCol w="951171">
                      <a:extLst>
                        <a:ext uri="{9D8B030D-6E8A-4147-A177-3AD203B41FA5}">
                          <a16:colId xmlns:a16="http://schemas.microsoft.com/office/drawing/2014/main" val="2141251739"/>
                        </a:ext>
                      </a:extLst>
                    </a:gridCol>
                    <a:gridCol w="970988">
                      <a:extLst>
                        <a:ext uri="{9D8B030D-6E8A-4147-A177-3AD203B41FA5}">
                          <a16:colId xmlns:a16="http://schemas.microsoft.com/office/drawing/2014/main" val="299435483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𝑷𝒂𝒓𝒄𝒆𝒍𝒂</m:t>
                                </m:r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 (</m:t>
                                </m:r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𝒉</m:t>
                                </m:r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𝝋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𝝋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8387343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0,05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-0,60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-0,03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1836913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0,11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0,20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0,02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0833146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0,84</a:t>
                          </a:r>
                          <a:endParaRPr lang="pt-BR" sz="1800" kern="10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0,75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0,63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165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Total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100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0,62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34685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a 5">
                <a:extLst>
                  <a:ext uri="{FF2B5EF4-FFF2-40B4-BE49-F238E27FC236}">
                    <a16:creationId xmlns:a16="http://schemas.microsoft.com/office/drawing/2014/main" id="{B7564ECC-2244-EB81-BD84-8AFDDD0A118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3812" y="845536"/>
              <a:ext cx="4226768" cy="16192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53438">
                      <a:extLst>
                        <a:ext uri="{9D8B030D-6E8A-4147-A177-3AD203B41FA5}">
                          <a16:colId xmlns:a16="http://schemas.microsoft.com/office/drawing/2014/main" val="67190092"/>
                        </a:ext>
                      </a:extLst>
                    </a:gridCol>
                    <a:gridCol w="951171">
                      <a:extLst>
                        <a:ext uri="{9D8B030D-6E8A-4147-A177-3AD203B41FA5}">
                          <a16:colId xmlns:a16="http://schemas.microsoft.com/office/drawing/2014/main" val="1759738416"/>
                        </a:ext>
                      </a:extLst>
                    </a:gridCol>
                    <a:gridCol w="951171">
                      <a:extLst>
                        <a:ext uri="{9D8B030D-6E8A-4147-A177-3AD203B41FA5}">
                          <a16:colId xmlns:a16="http://schemas.microsoft.com/office/drawing/2014/main" val="2141251739"/>
                        </a:ext>
                      </a:extLst>
                    </a:gridCol>
                    <a:gridCol w="970988">
                      <a:extLst>
                        <a:ext uri="{9D8B030D-6E8A-4147-A177-3AD203B41FA5}">
                          <a16:colId xmlns:a16="http://schemas.microsoft.com/office/drawing/2014/main" val="299435483"/>
                        </a:ext>
                      </a:extLst>
                    </a:gridCol>
                  </a:tblGrid>
                  <a:tr h="41706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449" r="-213964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2308" t="-1449" r="-204487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0764" t="-1449" r="-103185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6478" t="-1449" r="-1887" b="-32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8387343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0,05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-0,60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-0,03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1836913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0,11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0,20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0,02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08331462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0,84</a:t>
                          </a:r>
                          <a:endParaRPr lang="pt-BR" sz="1800" kern="10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0,75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0,63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165056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Total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100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0,62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34685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306F68A-5103-973A-76B4-A86436E14FB2}"/>
                  </a:ext>
                </a:extLst>
              </p:cNvPr>
              <p:cNvSpPr txBox="1"/>
              <p:nvPr/>
            </p:nvSpPr>
            <p:spPr>
              <a:xfrm>
                <a:off x="643812" y="3239371"/>
                <a:ext cx="2135795" cy="11538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306F68A-5103-973A-76B4-A86436E14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12" y="3239371"/>
                <a:ext cx="2135795" cy="11538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Agrupar 9">
            <a:extLst>
              <a:ext uri="{FF2B5EF4-FFF2-40B4-BE49-F238E27FC236}">
                <a16:creationId xmlns:a16="http://schemas.microsoft.com/office/drawing/2014/main" id="{BF5CAE18-536E-82AE-EEC1-A266580DA80B}"/>
              </a:ext>
            </a:extLst>
          </p:cNvPr>
          <p:cNvGrpSpPr/>
          <p:nvPr/>
        </p:nvGrpSpPr>
        <p:grpSpPr>
          <a:xfrm>
            <a:off x="419100" y="111659"/>
            <a:ext cx="6002110" cy="491400"/>
            <a:chOff x="0" y="1893317"/>
            <a:chExt cx="6002110" cy="491400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8650898C-3BC9-5970-F044-1A7E8AAD790E}"/>
                </a:ext>
              </a:extLst>
            </p:cNvPr>
            <p:cNvSpPr/>
            <p:nvPr/>
          </p:nvSpPr>
          <p:spPr>
            <a:xfrm>
              <a:off x="0" y="1893317"/>
              <a:ext cx="6002110" cy="4914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7291290"/>
                <a:satOff val="-496"/>
                <a:lumOff val="1177"/>
                <a:alphaOff val="0"/>
              </a:schemeClr>
            </a:fillRef>
            <a:effectRef idx="0">
              <a:schemeClr val="accent5">
                <a:hueOff val="-7291290"/>
                <a:satOff val="-496"/>
                <a:lumOff val="117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Retângulo: Cantos Arredondados 4">
              <a:extLst>
                <a:ext uri="{FF2B5EF4-FFF2-40B4-BE49-F238E27FC236}">
                  <a16:creationId xmlns:a16="http://schemas.microsoft.com/office/drawing/2014/main" id="{817226E5-B4D0-CC3C-AFE9-63AEC5751EFB}"/>
                </a:ext>
              </a:extLst>
            </p:cNvPr>
            <p:cNvSpPr txBox="1"/>
            <p:nvPr/>
          </p:nvSpPr>
          <p:spPr>
            <a:xfrm>
              <a:off x="23988" y="1917305"/>
              <a:ext cx="5954134" cy="4434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000" kern="1200" dirty="0"/>
                <a:t>Decomposição </a:t>
              </a:r>
              <a:r>
                <a:rPr lang="pt-BR" sz="2000" kern="1200"/>
                <a:t>do Índice </a:t>
              </a:r>
              <a:r>
                <a:rPr lang="pt-BR" sz="2000" kern="1200" dirty="0"/>
                <a:t>de Gini</a:t>
              </a:r>
              <a:endParaRPr lang="en-US" sz="2000" kern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1B6182E7-ADEE-9B1D-B5EE-DBC83B55825C}"/>
                  </a:ext>
                </a:extLst>
              </p:cNvPr>
              <p:cNvSpPr txBox="1"/>
              <p:nvPr/>
            </p:nvSpPr>
            <p:spPr>
              <a:xfrm>
                <a:off x="2779607" y="3431629"/>
                <a:ext cx="1754474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pt-BR" b="0" i="1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1B6182E7-ADEE-9B1D-B5EE-DBC83B558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607" y="3431629"/>
                <a:ext cx="1754474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ela 15">
                <a:extLst>
                  <a:ext uri="{FF2B5EF4-FFF2-40B4-BE49-F238E27FC236}">
                    <a16:creationId xmlns:a16="http://schemas.microsoft.com/office/drawing/2014/main" id="{9EC206BF-6261-A3E1-8AC1-D2B9776111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7294187"/>
                  </p:ext>
                </p:extLst>
              </p:nvPr>
            </p:nvGraphicFramePr>
            <p:xfrm>
              <a:off x="643811" y="4692102"/>
              <a:ext cx="4460033" cy="16192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96956">
                      <a:extLst>
                        <a:ext uri="{9D8B030D-6E8A-4147-A177-3AD203B41FA5}">
                          <a16:colId xmlns:a16="http://schemas.microsoft.com/office/drawing/2014/main" val="3347830931"/>
                        </a:ext>
                      </a:extLst>
                    </a:gridCol>
                    <a:gridCol w="680558">
                      <a:extLst>
                        <a:ext uri="{9D8B030D-6E8A-4147-A177-3AD203B41FA5}">
                          <a16:colId xmlns:a16="http://schemas.microsoft.com/office/drawing/2014/main" val="3979544178"/>
                        </a:ext>
                      </a:extLst>
                    </a:gridCol>
                    <a:gridCol w="816171">
                      <a:extLst>
                        <a:ext uri="{9D8B030D-6E8A-4147-A177-3AD203B41FA5}">
                          <a16:colId xmlns:a16="http://schemas.microsoft.com/office/drawing/2014/main" val="107485774"/>
                        </a:ext>
                      </a:extLst>
                    </a:gridCol>
                    <a:gridCol w="833174">
                      <a:extLst>
                        <a:ext uri="{9D8B030D-6E8A-4147-A177-3AD203B41FA5}">
                          <a16:colId xmlns:a16="http://schemas.microsoft.com/office/drawing/2014/main" val="951372198"/>
                        </a:ext>
                      </a:extLst>
                    </a:gridCol>
                    <a:gridCol w="833174">
                      <a:extLst>
                        <a:ext uri="{9D8B030D-6E8A-4147-A177-3AD203B41FA5}">
                          <a16:colId xmlns:a16="http://schemas.microsoft.com/office/drawing/2014/main" val="36712712"/>
                        </a:ext>
                      </a:extLst>
                    </a:gridCol>
                  </a:tblGrid>
                  <a:tr h="4084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b="1" i="1" kern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𝑷𝒂𝒓𝒄𝒆𝒍𝒂</m:t>
                                </m:r>
                                <m:r>
                                  <a:rPr lang="pt-BR" sz="1800" b="1" i="1" kern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 (</m:t>
                                </m:r>
                                <m:r>
                                  <a:rPr lang="pt-BR" sz="1800" b="1" i="1" kern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𝒉</m:t>
                                </m:r>
                                <m:r>
                                  <a:rPr lang="pt-BR" sz="1800" b="1" i="1" kern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𝝋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𝝋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1427472"/>
                      </a:ext>
                    </a:extLst>
                  </a:tr>
                  <a:tr h="2548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0,05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-0,60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-0,03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-0,05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9951581"/>
                      </a:ext>
                    </a:extLst>
                  </a:tr>
                  <a:tr h="2548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0,11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0,20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0,02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0,03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50329681"/>
                      </a:ext>
                    </a:extLst>
                  </a:tr>
                  <a:tr h="2643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0,84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0,75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0,63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1,02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2877377"/>
                      </a:ext>
                    </a:extLst>
                  </a:tr>
                  <a:tr h="2643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Total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100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0,62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1,00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86616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ela 15">
                <a:extLst>
                  <a:ext uri="{FF2B5EF4-FFF2-40B4-BE49-F238E27FC236}">
                    <a16:creationId xmlns:a16="http://schemas.microsoft.com/office/drawing/2014/main" id="{9EC206BF-6261-A3E1-8AC1-D2B9776111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7294187"/>
                  </p:ext>
                </p:extLst>
              </p:nvPr>
            </p:nvGraphicFramePr>
            <p:xfrm>
              <a:off x="643811" y="4692102"/>
              <a:ext cx="4460033" cy="16192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96956">
                      <a:extLst>
                        <a:ext uri="{9D8B030D-6E8A-4147-A177-3AD203B41FA5}">
                          <a16:colId xmlns:a16="http://schemas.microsoft.com/office/drawing/2014/main" val="3347830931"/>
                        </a:ext>
                      </a:extLst>
                    </a:gridCol>
                    <a:gridCol w="680558">
                      <a:extLst>
                        <a:ext uri="{9D8B030D-6E8A-4147-A177-3AD203B41FA5}">
                          <a16:colId xmlns:a16="http://schemas.microsoft.com/office/drawing/2014/main" val="3979544178"/>
                        </a:ext>
                      </a:extLst>
                    </a:gridCol>
                    <a:gridCol w="816171">
                      <a:extLst>
                        <a:ext uri="{9D8B030D-6E8A-4147-A177-3AD203B41FA5}">
                          <a16:colId xmlns:a16="http://schemas.microsoft.com/office/drawing/2014/main" val="107485774"/>
                        </a:ext>
                      </a:extLst>
                    </a:gridCol>
                    <a:gridCol w="833174">
                      <a:extLst>
                        <a:ext uri="{9D8B030D-6E8A-4147-A177-3AD203B41FA5}">
                          <a16:colId xmlns:a16="http://schemas.microsoft.com/office/drawing/2014/main" val="951372198"/>
                        </a:ext>
                      </a:extLst>
                    </a:gridCol>
                    <a:gridCol w="833174">
                      <a:extLst>
                        <a:ext uri="{9D8B030D-6E8A-4147-A177-3AD203B41FA5}">
                          <a16:colId xmlns:a16="http://schemas.microsoft.com/office/drawing/2014/main" val="36712712"/>
                        </a:ext>
                      </a:extLst>
                    </a:gridCol>
                  </a:tblGrid>
                  <a:tr h="41706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1449" r="-244601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90179" t="-1449" r="-365179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42537" t="-1449" r="-205224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35036" t="-1449" r="-100730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35036" t="-1449" r="-730" b="-32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1427472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0,05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-0,60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-0,03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-0,05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9951581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0,11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0,20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0,02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0,03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50329681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0,84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0,75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0,63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1,02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2877377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Total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100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0,62</a:t>
                          </a:r>
                          <a:endParaRPr lang="pt-BR" sz="180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chemeClr val="tx1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1,00</a:t>
                          </a:r>
                          <a:endParaRPr lang="pt-BR" sz="1800" kern="100" dirty="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86616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8C3923EE-7EA3-57F2-E074-3CA65939F35D}"/>
              </a:ext>
            </a:extLst>
          </p:cNvPr>
          <p:cNvSpPr txBox="1"/>
          <p:nvPr/>
        </p:nvSpPr>
        <p:spPr>
          <a:xfrm>
            <a:off x="2352257" y="2841210"/>
            <a:ext cx="2135795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dirty="0">
                <a:latin typeface="Garamond" panose="02020404030301010803" pitchFamily="18" charset="0"/>
              </a:rPr>
              <a:t>Rao (1979)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9615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A19EC-CF85-428F-88E6-7C3E1D83F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D83E2E04-4321-C02A-9757-654F5A8EC18F}"/>
              </a:ext>
            </a:extLst>
          </p:cNvPr>
          <p:cNvGrpSpPr/>
          <p:nvPr/>
        </p:nvGrpSpPr>
        <p:grpSpPr>
          <a:xfrm>
            <a:off x="419100" y="111659"/>
            <a:ext cx="6002110" cy="491400"/>
            <a:chOff x="0" y="1893317"/>
            <a:chExt cx="6002110" cy="491400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BCAAF35B-BC4B-A4DC-2143-28DF23216A81}"/>
                </a:ext>
              </a:extLst>
            </p:cNvPr>
            <p:cNvSpPr/>
            <p:nvPr/>
          </p:nvSpPr>
          <p:spPr>
            <a:xfrm>
              <a:off x="0" y="1893317"/>
              <a:ext cx="6002110" cy="4914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7291290"/>
                <a:satOff val="-496"/>
                <a:lumOff val="1177"/>
                <a:alphaOff val="0"/>
              </a:schemeClr>
            </a:fillRef>
            <a:effectRef idx="0">
              <a:schemeClr val="accent5">
                <a:hueOff val="-7291290"/>
                <a:satOff val="-496"/>
                <a:lumOff val="117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Retângulo: Cantos Arredondados 4">
              <a:extLst>
                <a:ext uri="{FF2B5EF4-FFF2-40B4-BE49-F238E27FC236}">
                  <a16:creationId xmlns:a16="http://schemas.microsoft.com/office/drawing/2014/main" id="{27CF4BD6-91B6-B9E0-3B47-6885A41721FD}"/>
                </a:ext>
              </a:extLst>
            </p:cNvPr>
            <p:cNvSpPr txBox="1"/>
            <p:nvPr/>
          </p:nvSpPr>
          <p:spPr>
            <a:xfrm>
              <a:off x="23988" y="1917305"/>
              <a:ext cx="5954134" cy="4434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000" kern="1200" dirty="0"/>
                <a:t>Decomposição </a:t>
              </a:r>
              <a:r>
                <a:rPr lang="pt-BR" sz="2000" kern="1200"/>
                <a:t>do Índice </a:t>
              </a:r>
              <a:r>
                <a:rPr lang="pt-BR" sz="2000" kern="1200" dirty="0"/>
                <a:t>de Gini</a:t>
              </a:r>
              <a:endParaRPr lang="en-US" sz="2000" kern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A0F40487-5E62-7A8A-6AC9-325C7E6CF1B3}"/>
                  </a:ext>
                </a:extLst>
              </p:cNvPr>
              <p:cNvSpPr txBox="1"/>
              <p:nvPr/>
            </p:nvSpPr>
            <p:spPr>
              <a:xfrm>
                <a:off x="721487" y="1364203"/>
                <a:ext cx="2135795" cy="11538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dirty="0">
                  <a:latin typeface="Garamond" panose="02020404030301010803" pitchFamily="18" charset="0"/>
                </a:endParaRPr>
              </a:p>
              <a:p>
                <a:endParaRPr lang="pt-BR" sz="24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A0F40487-5E62-7A8A-6AC9-325C7E6CF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7" y="1364203"/>
                <a:ext cx="2135795" cy="11538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9C7FF51-7639-AFBF-150E-D7B1105B4C93}"/>
                  </a:ext>
                </a:extLst>
              </p:cNvPr>
              <p:cNvSpPr txBox="1"/>
              <p:nvPr/>
            </p:nvSpPr>
            <p:spPr>
              <a:xfrm>
                <a:off x="1135503" y="2878264"/>
                <a:ext cx="24520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h𝑖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h𝑖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h𝑖</m:t>
                          </m:r>
                        </m:sub>
                      </m:sSub>
                    </m:oMath>
                  </m:oMathPara>
                </a14:m>
                <a:endParaRPr lang="pt-BR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9C7FF51-7639-AFBF-150E-D7B1105B4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03" y="2878264"/>
                <a:ext cx="2452082" cy="276999"/>
              </a:xfrm>
              <a:prstGeom prst="rect">
                <a:avLst/>
              </a:prstGeom>
              <a:blipFill>
                <a:blip r:embed="rId3"/>
                <a:stretch>
                  <a:fillRect l="-2978" t="-2174" r="-248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F608E92-74F2-E2AF-80FD-FDD1329F384F}"/>
                  </a:ext>
                </a:extLst>
              </p:cNvPr>
              <p:cNvSpPr txBox="1"/>
              <p:nvPr/>
            </p:nvSpPr>
            <p:spPr>
              <a:xfrm>
                <a:off x="2901009" y="1364203"/>
                <a:ext cx="2135795" cy="11538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dirty="0">
                  <a:latin typeface="Garamond" panose="02020404030301010803" pitchFamily="18" charset="0"/>
                </a:endParaRPr>
              </a:p>
              <a:p>
                <a:endParaRPr lang="pt-BR" sz="24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F608E92-74F2-E2AF-80FD-FDD1329F3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009" y="1364203"/>
                <a:ext cx="2135795" cy="11538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47179C59-E90D-07A7-85F9-3B9EBE2F92A5}"/>
                  </a:ext>
                </a:extLst>
              </p:cNvPr>
              <p:cNvSpPr txBox="1"/>
              <p:nvPr/>
            </p:nvSpPr>
            <p:spPr>
              <a:xfrm>
                <a:off x="1241278" y="3889469"/>
                <a:ext cx="3795526" cy="12497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𝜃</m:t>
                              </m:r>
                              <m: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pt-BR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𝜃𝜇</m:t>
                                  </m:r>
                                </m:e>
                                <m:sub>
                                  <m: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dirty="0">
                  <a:latin typeface="Garamond" panose="02020404030301010803" pitchFamily="18" charset="0"/>
                </a:endParaRPr>
              </a:p>
              <a:p>
                <a:endParaRPr lang="pt-BR" sz="24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47179C59-E90D-07A7-85F9-3B9EBE2F9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278" y="3889469"/>
                <a:ext cx="3795526" cy="12497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EAD03FE-0ED9-DD9B-A1B4-5DCB9769E733}"/>
                  </a:ext>
                </a:extLst>
              </p:cNvPr>
              <p:cNvSpPr txBox="1"/>
              <p:nvPr/>
            </p:nvSpPr>
            <p:spPr>
              <a:xfrm>
                <a:off x="1012972" y="2333379"/>
                <a:ext cx="77921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Garamond" panose="02020404030301010803" pitchFamily="18" charset="0"/>
                  </a:rPr>
                  <a:t>Se todos os valores da h-ésima parcela sofrem um aumento relativo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>
                    <a:latin typeface="Garamond" panose="02020404030301010803" pitchFamily="18" charset="0"/>
                  </a:rPr>
                  <a:t>, passando a ser</a:t>
                </a: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EAD03FE-0ED9-DD9B-A1B4-5DCB9769E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972" y="2333379"/>
                <a:ext cx="7792198" cy="369332"/>
              </a:xfrm>
              <a:prstGeom prst="rect">
                <a:avLst/>
              </a:prstGeom>
              <a:blipFill>
                <a:blip r:embed="rId6"/>
                <a:stretch>
                  <a:fillRect l="-626" t="-8333" b="-2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66808860-CDB4-6230-483A-8A832C0D85D9}"/>
              </a:ext>
            </a:extLst>
          </p:cNvPr>
          <p:cNvSpPr txBox="1"/>
          <p:nvPr/>
        </p:nvSpPr>
        <p:spPr>
          <a:xfrm>
            <a:off x="921016" y="3349667"/>
            <a:ext cx="3872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Garamond" panose="02020404030301010803" pitchFamily="18" charset="0"/>
              </a:rPr>
              <a:t>O novo valor da média dessa parcela será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C129E10-A7F5-8D26-B18F-704A75521D0F}"/>
                  </a:ext>
                </a:extLst>
              </p:cNvPr>
              <p:cNvSpPr txBox="1"/>
              <p:nvPr/>
            </p:nvSpPr>
            <p:spPr>
              <a:xfrm>
                <a:off x="4708023" y="3330817"/>
                <a:ext cx="11298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𝜇</m:t>
                        </m:r>
                      </m:e>
                      <m:sub>
                        <m: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h</m:t>
                        </m:r>
                      </m:sub>
                    </m:sSub>
                    <m:r>
                      <a:rPr lang="pt-BR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𝜇</m:t>
                        </m:r>
                      </m:e>
                      <m:sub>
                        <m: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pt-BR" dirty="0">
                    <a:latin typeface="Garamond" panose="02020404030301010803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C129E10-A7F5-8D26-B18F-704A75521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023" y="3330817"/>
                <a:ext cx="1129891" cy="369332"/>
              </a:xfrm>
              <a:prstGeom prst="rect">
                <a:avLst/>
              </a:prstGeom>
              <a:blipFill>
                <a:blip r:embed="rId7"/>
                <a:stretch>
                  <a:fillRect t="-6557" r="-3763" b="-262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ixaDeTexto 13">
            <a:extLst>
              <a:ext uri="{FF2B5EF4-FFF2-40B4-BE49-F238E27FC236}">
                <a16:creationId xmlns:a16="http://schemas.microsoft.com/office/drawing/2014/main" id="{EAB8DB5B-D188-574B-1F67-B812712F5C33}"/>
              </a:ext>
            </a:extLst>
          </p:cNvPr>
          <p:cNvSpPr txBox="1"/>
          <p:nvPr/>
        </p:nvSpPr>
        <p:spPr>
          <a:xfrm>
            <a:off x="1135503" y="883703"/>
            <a:ext cx="2833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Garamond" panose="02020404030301010803" pitchFamily="18" charset="0"/>
              </a:rPr>
              <a:t>Conforme mostra Rao (1969)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E7EEF0D-8F40-D22A-B449-737B09111AF3}"/>
              </a:ext>
            </a:extLst>
          </p:cNvPr>
          <p:cNvSpPr txBox="1"/>
          <p:nvPr/>
        </p:nvSpPr>
        <p:spPr>
          <a:xfrm>
            <a:off x="5824531" y="3354894"/>
            <a:ext cx="2748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Garamond" panose="02020404030301010803" pitchFamily="18" charset="0"/>
              </a:rPr>
              <a:t>E o novo índice de Gini será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32537DB-D8CA-2AFB-49D2-5E2FBAD29BEB}"/>
              </a:ext>
            </a:extLst>
          </p:cNvPr>
          <p:cNvSpPr txBox="1"/>
          <p:nvPr/>
        </p:nvSpPr>
        <p:spPr>
          <a:xfrm>
            <a:off x="822311" y="4905757"/>
            <a:ext cx="2333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Garamond" panose="02020404030301010803" pitchFamily="18" charset="0"/>
              </a:rPr>
              <a:t>Lerman-</a:t>
            </a:r>
            <a:r>
              <a:rPr lang="pt-BR" dirty="0" err="1">
                <a:latin typeface="Garamond" panose="02020404030301010803" pitchFamily="18" charset="0"/>
              </a:rPr>
              <a:t>Yitzhaki</a:t>
            </a:r>
            <a:r>
              <a:rPr lang="pt-BR" dirty="0">
                <a:latin typeface="Garamond" panose="02020404030301010803" pitchFamily="18" charset="0"/>
              </a:rPr>
              <a:t> (1994)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90A52094-89D1-D4DB-C955-AF51475A01EB}"/>
                  </a:ext>
                </a:extLst>
              </p:cNvPr>
              <p:cNvSpPr txBox="1"/>
              <p:nvPr/>
            </p:nvSpPr>
            <p:spPr>
              <a:xfrm>
                <a:off x="1241278" y="5524052"/>
                <a:ext cx="3622402" cy="563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f>
                                <m:fPr>
                                  <m:ctrlPr>
                                    <a:rPr lang="pt-BR" i="1" kern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pt-BR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𝐺</m:t>
                                  </m:r>
                                  <m: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=</m:t>
                              </m:r>
                              <m: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pt-BR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𝐺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90A52094-89D1-D4DB-C955-AF51475A0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278" y="5524052"/>
                <a:ext cx="3622402" cy="5638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D823E0BF-A7D7-FEFD-D6FF-A6F2194CB35D}"/>
                  </a:ext>
                </a:extLst>
              </p:cNvPr>
              <p:cNvSpPr txBox="1"/>
              <p:nvPr/>
            </p:nvSpPr>
            <p:spPr>
              <a:xfrm>
                <a:off x="6323000" y="4514319"/>
                <a:ext cx="5046689" cy="92333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latin typeface="Garamond" panose="02020404030301010803" pitchFamily="18" charset="0"/>
                  </a:rPr>
                  <a:t>Medida de progressividade de Lerman-</a:t>
                </a:r>
                <a:r>
                  <a:rPr lang="pt-BR" dirty="0" err="1">
                    <a:latin typeface="Garamond" panose="02020404030301010803" pitchFamily="18" charset="0"/>
                  </a:rPr>
                  <a:t>Yitzhaki</a:t>
                </a:r>
                <a:r>
                  <a:rPr lang="pt-BR" dirty="0">
                    <a:latin typeface="Garamond" panose="02020404030301010803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pt-BR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h</m:t>
                            </m:r>
                          </m:sub>
                        </m:sSub>
                        <m: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&gt;</m:t>
                        </m:r>
                        <m: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pt-BR" dirty="0">
                    <a:latin typeface="Garamond" panose="02020404030301010803" pitchFamily="18" charset="0"/>
                  </a:rPr>
                  <a:t> parcela regressiva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pt-BR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h</m:t>
                            </m:r>
                          </m:sub>
                        </m:sSub>
                        <m: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&lt;</m:t>
                        </m:r>
                        <m: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pt-BR" dirty="0">
                    <a:latin typeface="Garamond" panose="02020404030301010803" pitchFamily="18" charset="0"/>
                  </a:rPr>
                  <a:t> parcela progressiva</a:t>
                </a: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D823E0BF-A7D7-FEFD-D6FF-A6F2194CB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000" y="4514319"/>
                <a:ext cx="5046689" cy="923330"/>
              </a:xfrm>
              <a:prstGeom prst="rect">
                <a:avLst/>
              </a:prstGeom>
              <a:blipFill>
                <a:blip r:embed="rId9"/>
                <a:stretch>
                  <a:fillRect l="-843" t="-3268" b="-980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07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7618-D0C9-DFA7-2550-7A029D9A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2340272F-0B88-9DC1-1161-4CBB83B65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515" y="559435"/>
            <a:ext cx="5040000" cy="504000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46E901C-9152-86E6-D160-DED4FA890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515" y="559435"/>
            <a:ext cx="5040000" cy="50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a 5">
                <a:extLst>
                  <a:ext uri="{FF2B5EF4-FFF2-40B4-BE49-F238E27FC236}">
                    <a16:creationId xmlns:a16="http://schemas.microsoft.com/office/drawing/2014/main" id="{5EC7BF0A-8CB9-BB7B-41D6-5EFB73F7DC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0234493"/>
                  </p:ext>
                </p:extLst>
              </p:nvPr>
            </p:nvGraphicFramePr>
            <p:xfrm>
              <a:off x="643812" y="845536"/>
              <a:ext cx="4226768" cy="16192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53438">
                      <a:extLst>
                        <a:ext uri="{9D8B030D-6E8A-4147-A177-3AD203B41FA5}">
                          <a16:colId xmlns:a16="http://schemas.microsoft.com/office/drawing/2014/main" val="67190092"/>
                        </a:ext>
                      </a:extLst>
                    </a:gridCol>
                    <a:gridCol w="951171">
                      <a:extLst>
                        <a:ext uri="{9D8B030D-6E8A-4147-A177-3AD203B41FA5}">
                          <a16:colId xmlns:a16="http://schemas.microsoft.com/office/drawing/2014/main" val="1759738416"/>
                        </a:ext>
                      </a:extLst>
                    </a:gridCol>
                    <a:gridCol w="951171">
                      <a:extLst>
                        <a:ext uri="{9D8B030D-6E8A-4147-A177-3AD203B41FA5}">
                          <a16:colId xmlns:a16="http://schemas.microsoft.com/office/drawing/2014/main" val="2141251739"/>
                        </a:ext>
                      </a:extLst>
                    </a:gridCol>
                    <a:gridCol w="970988">
                      <a:extLst>
                        <a:ext uri="{9D8B030D-6E8A-4147-A177-3AD203B41FA5}">
                          <a16:colId xmlns:a16="http://schemas.microsoft.com/office/drawing/2014/main" val="299435483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𝑷𝒂𝒓𝒄𝒆𝒍𝒂</m:t>
                                </m:r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 (</m:t>
                                </m:r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𝒉</m:t>
                                </m:r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𝝋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𝝋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8387343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0,05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-0,60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-0,03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1836913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0,11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0,20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0,02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0833146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0,84</a:t>
                          </a:r>
                          <a:endParaRPr lang="pt-BR" sz="1800" kern="10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0,75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0,63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165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Total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100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0,62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34685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a 5">
                <a:extLst>
                  <a:ext uri="{FF2B5EF4-FFF2-40B4-BE49-F238E27FC236}">
                    <a16:creationId xmlns:a16="http://schemas.microsoft.com/office/drawing/2014/main" id="{5EC7BF0A-8CB9-BB7B-41D6-5EFB73F7DC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0234493"/>
                  </p:ext>
                </p:extLst>
              </p:nvPr>
            </p:nvGraphicFramePr>
            <p:xfrm>
              <a:off x="643812" y="845536"/>
              <a:ext cx="4226768" cy="16192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53438">
                      <a:extLst>
                        <a:ext uri="{9D8B030D-6E8A-4147-A177-3AD203B41FA5}">
                          <a16:colId xmlns:a16="http://schemas.microsoft.com/office/drawing/2014/main" val="67190092"/>
                        </a:ext>
                      </a:extLst>
                    </a:gridCol>
                    <a:gridCol w="951171">
                      <a:extLst>
                        <a:ext uri="{9D8B030D-6E8A-4147-A177-3AD203B41FA5}">
                          <a16:colId xmlns:a16="http://schemas.microsoft.com/office/drawing/2014/main" val="1759738416"/>
                        </a:ext>
                      </a:extLst>
                    </a:gridCol>
                    <a:gridCol w="951171">
                      <a:extLst>
                        <a:ext uri="{9D8B030D-6E8A-4147-A177-3AD203B41FA5}">
                          <a16:colId xmlns:a16="http://schemas.microsoft.com/office/drawing/2014/main" val="2141251739"/>
                        </a:ext>
                      </a:extLst>
                    </a:gridCol>
                    <a:gridCol w="970988">
                      <a:extLst>
                        <a:ext uri="{9D8B030D-6E8A-4147-A177-3AD203B41FA5}">
                          <a16:colId xmlns:a16="http://schemas.microsoft.com/office/drawing/2014/main" val="299435483"/>
                        </a:ext>
                      </a:extLst>
                    </a:gridCol>
                  </a:tblGrid>
                  <a:tr h="41706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449" r="-213964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2308" t="-1449" r="-204487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0764" t="-1449" r="-103185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6478" t="-1449" r="-1887" b="-32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8387343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0,05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-0,60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-0,03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1836913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0,11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0,20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0,02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08331462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0,84</a:t>
                          </a:r>
                          <a:endParaRPr lang="pt-BR" sz="1800" kern="10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0,75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0,63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165056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Total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100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0,62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34685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39C3F0E-7708-3074-615A-57F7F8972416}"/>
                  </a:ext>
                </a:extLst>
              </p:cNvPr>
              <p:cNvSpPr txBox="1"/>
              <p:nvPr/>
            </p:nvSpPr>
            <p:spPr>
              <a:xfrm>
                <a:off x="643812" y="3239371"/>
                <a:ext cx="2135795" cy="11538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39C3F0E-7708-3074-615A-57F7F8972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12" y="3239371"/>
                <a:ext cx="2135795" cy="11538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Agrupar 9">
            <a:extLst>
              <a:ext uri="{FF2B5EF4-FFF2-40B4-BE49-F238E27FC236}">
                <a16:creationId xmlns:a16="http://schemas.microsoft.com/office/drawing/2014/main" id="{FE10991F-5202-E017-03D7-F21C58A0147A}"/>
              </a:ext>
            </a:extLst>
          </p:cNvPr>
          <p:cNvGrpSpPr/>
          <p:nvPr/>
        </p:nvGrpSpPr>
        <p:grpSpPr>
          <a:xfrm>
            <a:off x="419100" y="111659"/>
            <a:ext cx="6002110" cy="491400"/>
            <a:chOff x="0" y="1893317"/>
            <a:chExt cx="6002110" cy="491400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73D437DA-F683-E8A0-A9B6-A5219F1BFF4C}"/>
                </a:ext>
              </a:extLst>
            </p:cNvPr>
            <p:cNvSpPr/>
            <p:nvPr/>
          </p:nvSpPr>
          <p:spPr>
            <a:xfrm>
              <a:off x="0" y="1893317"/>
              <a:ext cx="6002110" cy="4914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7291290"/>
                <a:satOff val="-496"/>
                <a:lumOff val="1177"/>
                <a:alphaOff val="0"/>
              </a:schemeClr>
            </a:fillRef>
            <a:effectRef idx="0">
              <a:schemeClr val="accent5">
                <a:hueOff val="-7291290"/>
                <a:satOff val="-496"/>
                <a:lumOff val="117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Retângulo: Cantos Arredondados 4">
              <a:extLst>
                <a:ext uri="{FF2B5EF4-FFF2-40B4-BE49-F238E27FC236}">
                  <a16:creationId xmlns:a16="http://schemas.microsoft.com/office/drawing/2014/main" id="{C6A9F2BF-55CB-D0CA-9322-E900794D90C9}"/>
                </a:ext>
              </a:extLst>
            </p:cNvPr>
            <p:cNvSpPr txBox="1"/>
            <p:nvPr/>
          </p:nvSpPr>
          <p:spPr>
            <a:xfrm>
              <a:off x="23988" y="1917305"/>
              <a:ext cx="5954134" cy="4434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000" kern="1200" dirty="0"/>
                <a:t>Decomposição </a:t>
              </a:r>
              <a:r>
                <a:rPr lang="pt-BR" sz="2000" kern="1200"/>
                <a:t>do Índice </a:t>
              </a:r>
              <a:r>
                <a:rPr lang="pt-BR" sz="2000" kern="1200" dirty="0"/>
                <a:t>de Gini</a:t>
              </a:r>
              <a:endParaRPr lang="en-US" sz="2000" kern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B6DC0C96-AC64-6BDD-AE94-AB38669FDFEB}"/>
                  </a:ext>
                </a:extLst>
              </p:cNvPr>
              <p:cNvSpPr txBox="1"/>
              <p:nvPr/>
            </p:nvSpPr>
            <p:spPr>
              <a:xfrm>
                <a:off x="2779607" y="3431629"/>
                <a:ext cx="1754474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pt-BR" b="0" i="1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B6DC0C96-AC64-6BDD-AE94-AB38669FD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607" y="3431629"/>
                <a:ext cx="1754474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ela 15">
                <a:extLst>
                  <a:ext uri="{FF2B5EF4-FFF2-40B4-BE49-F238E27FC236}">
                    <a16:creationId xmlns:a16="http://schemas.microsoft.com/office/drawing/2014/main" id="{7EA8D81C-08B6-6F40-EE26-914AC7F500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9635779"/>
                  </p:ext>
                </p:extLst>
              </p:nvPr>
            </p:nvGraphicFramePr>
            <p:xfrm>
              <a:off x="643811" y="4692102"/>
              <a:ext cx="4460033" cy="16192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96956">
                      <a:extLst>
                        <a:ext uri="{9D8B030D-6E8A-4147-A177-3AD203B41FA5}">
                          <a16:colId xmlns:a16="http://schemas.microsoft.com/office/drawing/2014/main" val="3347830931"/>
                        </a:ext>
                      </a:extLst>
                    </a:gridCol>
                    <a:gridCol w="680558">
                      <a:extLst>
                        <a:ext uri="{9D8B030D-6E8A-4147-A177-3AD203B41FA5}">
                          <a16:colId xmlns:a16="http://schemas.microsoft.com/office/drawing/2014/main" val="3979544178"/>
                        </a:ext>
                      </a:extLst>
                    </a:gridCol>
                    <a:gridCol w="816171">
                      <a:extLst>
                        <a:ext uri="{9D8B030D-6E8A-4147-A177-3AD203B41FA5}">
                          <a16:colId xmlns:a16="http://schemas.microsoft.com/office/drawing/2014/main" val="107485774"/>
                        </a:ext>
                      </a:extLst>
                    </a:gridCol>
                    <a:gridCol w="833174">
                      <a:extLst>
                        <a:ext uri="{9D8B030D-6E8A-4147-A177-3AD203B41FA5}">
                          <a16:colId xmlns:a16="http://schemas.microsoft.com/office/drawing/2014/main" val="951372198"/>
                        </a:ext>
                      </a:extLst>
                    </a:gridCol>
                    <a:gridCol w="833174">
                      <a:extLst>
                        <a:ext uri="{9D8B030D-6E8A-4147-A177-3AD203B41FA5}">
                          <a16:colId xmlns:a16="http://schemas.microsoft.com/office/drawing/2014/main" val="36712712"/>
                        </a:ext>
                      </a:extLst>
                    </a:gridCol>
                  </a:tblGrid>
                  <a:tr h="4084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𝑷𝒂𝒓𝒄𝒆𝒍𝒂</m:t>
                                </m:r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 (</m:t>
                                </m:r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𝒉</m:t>
                                </m:r>
                                <m:r>
                                  <a:rPr lang="pt-BR" sz="1800" b="1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𝝋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𝝋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 smtClean="0">
                                        <a:solidFill>
                                          <a:srgbClr val="FFC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FFC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FFC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solidFill>
                              <a:srgbClr val="FFC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1427472"/>
                      </a:ext>
                    </a:extLst>
                  </a:tr>
                  <a:tr h="2548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0,05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-0,60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C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-0,05</a:t>
                          </a:r>
                          <a:endParaRPr lang="pt-BR" sz="1800" kern="100" dirty="0">
                            <a:solidFill>
                              <a:srgbClr val="FFC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9951581"/>
                      </a:ext>
                    </a:extLst>
                  </a:tr>
                  <a:tr h="2548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0,11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0,20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C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0,03</a:t>
                          </a:r>
                          <a:endParaRPr lang="pt-BR" sz="1800" kern="100" dirty="0">
                            <a:solidFill>
                              <a:srgbClr val="FFC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50329681"/>
                      </a:ext>
                    </a:extLst>
                  </a:tr>
                  <a:tr h="2643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0,84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0,75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C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1,02</a:t>
                          </a:r>
                          <a:endParaRPr lang="pt-BR" sz="1800" kern="100" dirty="0">
                            <a:solidFill>
                              <a:srgbClr val="FFC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2877377"/>
                      </a:ext>
                    </a:extLst>
                  </a:tr>
                  <a:tr h="2643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Total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100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C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1,00</a:t>
                          </a:r>
                          <a:endParaRPr lang="pt-BR" sz="1800" kern="100" dirty="0">
                            <a:solidFill>
                              <a:srgbClr val="FFC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86616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ela 15">
                <a:extLst>
                  <a:ext uri="{FF2B5EF4-FFF2-40B4-BE49-F238E27FC236}">
                    <a16:creationId xmlns:a16="http://schemas.microsoft.com/office/drawing/2014/main" id="{7EA8D81C-08B6-6F40-EE26-914AC7F500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9635779"/>
                  </p:ext>
                </p:extLst>
              </p:nvPr>
            </p:nvGraphicFramePr>
            <p:xfrm>
              <a:off x="643811" y="4692102"/>
              <a:ext cx="4460033" cy="16192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96956">
                      <a:extLst>
                        <a:ext uri="{9D8B030D-6E8A-4147-A177-3AD203B41FA5}">
                          <a16:colId xmlns:a16="http://schemas.microsoft.com/office/drawing/2014/main" val="3347830931"/>
                        </a:ext>
                      </a:extLst>
                    </a:gridCol>
                    <a:gridCol w="680558">
                      <a:extLst>
                        <a:ext uri="{9D8B030D-6E8A-4147-A177-3AD203B41FA5}">
                          <a16:colId xmlns:a16="http://schemas.microsoft.com/office/drawing/2014/main" val="3979544178"/>
                        </a:ext>
                      </a:extLst>
                    </a:gridCol>
                    <a:gridCol w="816171">
                      <a:extLst>
                        <a:ext uri="{9D8B030D-6E8A-4147-A177-3AD203B41FA5}">
                          <a16:colId xmlns:a16="http://schemas.microsoft.com/office/drawing/2014/main" val="107485774"/>
                        </a:ext>
                      </a:extLst>
                    </a:gridCol>
                    <a:gridCol w="833174">
                      <a:extLst>
                        <a:ext uri="{9D8B030D-6E8A-4147-A177-3AD203B41FA5}">
                          <a16:colId xmlns:a16="http://schemas.microsoft.com/office/drawing/2014/main" val="951372198"/>
                        </a:ext>
                      </a:extLst>
                    </a:gridCol>
                    <a:gridCol w="833174">
                      <a:extLst>
                        <a:ext uri="{9D8B030D-6E8A-4147-A177-3AD203B41FA5}">
                          <a16:colId xmlns:a16="http://schemas.microsoft.com/office/drawing/2014/main" val="36712712"/>
                        </a:ext>
                      </a:extLst>
                    </a:gridCol>
                  </a:tblGrid>
                  <a:tr h="41706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1449" r="-244601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90179" t="-1449" r="-365179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42537" t="-1449" r="-205224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35036" t="-1449" r="-100730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35036" t="-1449" r="-730" b="-32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1427472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0,05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-0,60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C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-0,05</a:t>
                          </a:r>
                          <a:endParaRPr lang="pt-BR" sz="1800" kern="100" dirty="0">
                            <a:solidFill>
                              <a:srgbClr val="FFC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9951581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0,11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0,20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C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0,03</a:t>
                          </a:r>
                          <a:endParaRPr lang="pt-BR" sz="1800" kern="100" dirty="0">
                            <a:solidFill>
                              <a:srgbClr val="FFC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50329681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0,84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0,75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C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1,02</a:t>
                          </a:r>
                          <a:endParaRPr lang="pt-BR" sz="1800" kern="100" dirty="0">
                            <a:solidFill>
                              <a:srgbClr val="FFC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2877377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Total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100</a:t>
                          </a:r>
                          <a:endParaRPr lang="pt-BR" sz="18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solidFill>
                                <a:srgbClr val="00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solidFill>
                                <a:srgbClr val="FFC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1,00</a:t>
                          </a:r>
                          <a:endParaRPr lang="pt-BR" sz="1800" kern="100" dirty="0">
                            <a:solidFill>
                              <a:srgbClr val="FFC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86616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D58E5F65-4DB3-3593-E523-35BA642AD597}"/>
              </a:ext>
            </a:extLst>
          </p:cNvPr>
          <p:cNvSpPr txBox="1"/>
          <p:nvPr/>
        </p:nvSpPr>
        <p:spPr>
          <a:xfrm>
            <a:off x="2352257" y="2841210"/>
            <a:ext cx="2135795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dirty="0">
                <a:latin typeface="Garamond" panose="02020404030301010803" pitchFamily="18" charset="0"/>
              </a:rPr>
              <a:t>Rao (1979)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14054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68589-3E60-ED7F-5806-80B35DDA8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B6A6FE4B-C410-D686-8110-BBDD53816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31" y="1278261"/>
            <a:ext cx="5047926" cy="504792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32707F0-AF3F-5ED9-26CC-5595EAF79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31" y="1278261"/>
            <a:ext cx="5047926" cy="50479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CAC28BA-A79E-FB25-47E8-1E3E8D8F2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31" y="1278261"/>
            <a:ext cx="5047926" cy="504792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8FDF853-508B-70BB-B92F-2BF0CEBBE5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431" y="1278261"/>
            <a:ext cx="5047926" cy="5047926"/>
          </a:xfrm>
          <a:prstGeom prst="rect">
            <a:avLst/>
          </a:prstGeom>
        </p:spPr>
      </p:pic>
      <p:grpSp>
        <p:nvGrpSpPr>
          <p:cNvPr id="17" name="Agrupar 16">
            <a:extLst>
              <a:ext uri="{FF2B5EF4-FFF2-40B4-BE49-F238E27FC236}">
                <a16:creationId xmlns:a16="http://schemas.microsoft.com/office/drawing/2014/main" id="{B8493ED0-1F2D-AB37-6B16-6C1764881AC1}"/>
              </a:ext>
            </a:extLst>
          </p:cNvPr>
          <p:cNvGrpSpPr/>
          <p:nvPr/>
        </p:nvGrpSpPr>
        <p:grpSpPr>
          <a:xfrm>
            <a:off x="286431" y="104198"/>
            <a:ext cx="6002110" cy="491400"/>
            <a:chOff x="0" y="2442316"/>
            <a:chExt cx="6002110" cy="491400"/>
          </a:xfrm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B9094199-2790-750D-E73E-CEEA87AF59AD}"/>
                </a:ext>
              </a:extLst>
            </p:cNvPr>
            <p:cNvSpPr/>
            <p:nvPr/>
          </p:nvSpPr>
          <p:spPr>
            <a:xfrm>
              <a:off x="0" y="2442316"/>
              <a:ext cx="6002110" cy="4914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9721720"/>
                <a:satOff val="-661"/>
                <a:lumOff val="1569"/>
                <a:alphaOff val="0"/>
              </a:schemeClr>
            </a:fillRef>
            <a:effectRef idx="0">
              <a:schemeClr val="accent5">
                <a:hueOff val="-9721720"/>
                <a:satOff val="-661"/>
                <a:lumOff val="156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tângulo: Cantos Arredondados 4">
              <a:extLst>
                <a:ext uri="{FF2B5EF4-FFF2-40B4-BE49-F238E27FC236}">
                  <a16:creationId xmlns:a16="http://schemas.microsoft.com/office/drawing/2014/main" id="{9A8695E6-A5D1-FE51-F4D5-5D64B8C41185}"/>
                </a:ext>
              </a:extLst>
            </p:cNvPr>
            <p:cNvSpPr txBox="1"/>
            <p:nvPr/>
          </p:nvSpPr>
          <p:spPr>
            <a:xfrm>
              <a:off x="23988" y="2466304"/>
              <a:ext cx="5954134" cy="4434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000" kern="1200" dirty="0"/>
                <a:t>Resultados para o Brasil</a:t>
              </a:r>
              <a:endParaRPr lang="en-US" sz="2000" kern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7D35BCF8-23CB-5A5B-0786-AF7F6D1220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1801728"/>
                  </p:ext>
                </p:extLst>
              </p:nvPr>
            </p:nvGraphicFramePr>
            <p:xfrm>
              <a:off x="6288541" y="1637147"/>
              <a:ext cx="4834540" cy="40236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08112">
                      <a:extLst>
                        <a:ext uri="{9D8B030D-6E8A-4147-A177-3AD203B41FA5}">
                          <a16:colId xmlns:a16="http://schemas.microsoft.com/office/drawing/2014/main" val="1539722137"/>
                        </a:ext>
                      </a:extLst>
                    </a:gridCol>
                    <a:gridCol w="856607">
                      <a:extLst>
                        <a:ext uri="{9D8B030D-6E8A-4147-A177-3AD203B41FA5}">
                          <a16:colId xmlns:a16="http://schemas.microsoft.com/office/drawing/2014/main" val="2475246310"/>
                        </a:ext>
                      </a:extLst>
                    </a:gridCol>
                    <a:gridCol w="856607">
                      <a:extLst>
                        <a:ext uri="{9D8B030D-6E8A-4147-A177-3AD203B41FA5}">
                          <a16:colId xmlns:a16="http://schemas.microsoft.com/office/drawing/2014/main" val="3576542273"/>
                        </a:ext>
                      </a:extLst>
                    </a:gridCol>
                    <a:gridCol w="856607">
                      <a:extLst>
                        <a:ext uri="{9D8B030D-6E8A-4147-A177-3AD203B41FA5}">
                          <a16:colId xmlns:a16="http://schemas.microsoft.com/office/drawing/2014/main" val="384258978"/>
                        </a:ext>
                      </a:extLst>
                    </a:gridCol>
                    <a:gridCol w="856607">
                      <a:extLst>
                        <a:ext uri="{9D8B030D-6E8A-4147-A177-3AD203B41FA5}">
                          <a16:colId xmlns:a16="http://schemas.microsoft.com/office/drawing/2014/main" val="2022200994"/>
                        </a:ext>
                      </a:extLst>
                    </a:gridCol>
                  </a:tblGrid>
                  <a:tr h="3879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b="1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𝑷𝒂𝒓𝒄𝒆𝒍𝒂</m:t>
                                </m:r>
                                <m:r>
                                  <a:rPr lang="pt-BR" sz="1800" b="1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 (</m:t>
                                </m:r>
                                <m:r>
                                  <a:rPr lang="pt-BR" sz="1800" b="1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𝒉</m:t>
                                </m:r>
                                <m:r>
                                  <a:rPr lang="pt-BR" sz="1800" b="1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𝝋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pt-BR" sz="1800" b="1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10269429"/>
                      </a:ext>
                    </a:extLst>
                  </a:tr>
                  <a:tr h="2410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AGR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50,6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3,6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0,29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4609585"/>
                      </a:ext>
                    </a:extLst>
                  </a:tr>
                  <a:tr h="2410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IND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188,1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13,3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0,45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11,0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2772271"/>
                      </a:ext>
                    </a:extLst>
                  </a:tr>
                  <a:tr h="2410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SERV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573,9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40,4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effectLst/>
                              <a:highlight>
                                <a:srgbClr val="FFFF00"/>
                              </a:highlight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0,54</a:t>
                          </a:r>
                          <a:endParaRPr lang="pt-BR" sz="1800" kern="100" dirty="0">
                            <a:effectLst/>
                            <a:highlight>
                              <a:srgbClr val="FFFF00"/>
                            </a:highlight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40,5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6131652"/>
                      </a:ext>
                    </a:extLst>
                  </a:tr>
                  <a:tr h="2410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PUB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216,9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15,3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EE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0,72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20,2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7554658"/>
                      </a:ext>
                    </a:extLst>
                  </a:tr>
                  <a:tr h="2410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APP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290,0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20,4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effectLst/>
                              <a:highlight>
                                <a:srgbClr val="FFFF00"/>
                              </a:highlight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0,55</a:t>
                          </a:r>
                          <a:endParaRPr lang="pt-BR" sz="1800" kern="100" dirty="0">
                            <a:effectLst/>
                            <a:highlight>
                              <a:srgbClr val="FFFF00"/>
                            </a:highlight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20,7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0532024"/>
                      </a:ext>
                    </a:extLst>
                  </a:tr>
                  <a:tr h="2410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DOA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16,2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0,36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0,8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57697326"/>
                      </a:ext>
                    </a:extLst>
                  </a:tr>
                  <a:tr h="2410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ALU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36,1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2,5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EE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0,80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3,7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3958112"/>
                      </a:ext>
                    </a:extLst>
                  </a:tr>
                  <a:tr h="2410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BPC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13,9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48689668"/>
                      </a:ext>
                    </a:extLst>
                  </a:tr>
                  <a:tr h="2410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PBF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8,3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-0,65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-0,7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4711737"/>
                      </a:ext>
                    </a:extLst>
                  </a:tr>
                  <a:tr h="2410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OPS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3067786"/>
                      </a:ext>
                    </a:extLst>
                  </a:tr>
                  <a:tr h="2410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RES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24,1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1,7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EE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0,67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2,1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0834946"/>
                      </a:ext>
                    </a:extLst>
                  </a:tr>
                  <a:tr h="2410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TOTAL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1419,4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100,0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0,54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100,0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83930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7D35BCF8-23CB-5A5B-0786-AF7F6D1220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1801728"/>
                  </p:ext>
                </p:extLst>
              </p:nvPr>
            </p:nvGraphicFramePr>
            <p:xfrm>
              <a:off x="6288541" y="1637147"/>
              <a:ext cx="4834540" cy="40236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08112">
                      <a:extLst>
                        <a:ext uri="{9D8B030D-6E8A-4147-A177-3AD203B41FA5}">
                          <a16:colId xmlns:a16="http://schemas.microsoft.com/office/drawing/2014/main" val="1539722137"/>
                        </a:ext>
                      </a:extLst>
                    </a:gridCol>
                    <a:gridCol w="856607">
                      <a:extLst>
                        <a:ext uri="{9D8B030D-6E8A-4147-A177-3AD203B41FA5}">
                          <a16:colId xmlns:a16="http://schemas.microsoft.com/office/drawing/2014/main" val="2475246310"/>
                        </a:ext>
                      </a:extLst>
                    </a:gridCol>
                    <a:gridCol w="856607">
                      <a:extLst>
                        <a:ext uri="{9D8B030D-6E8A-4147-A177-3AD203B41FA5}">
                          <a16:colId xmlns:a16="http://schemas.microsoft.com/office/drawing/2014/main" val="3576542273"/>
                        </a:ext>
                      </a:extLst>
                    </a:gridCol>
                    <a:gridCol w="856607">
                      <a:extLst>
                        <a:ext uri="{9D8B030D-6E8A-4147-A177-3AD203B41FA5}">
                          <a16:colId xmlns:a16="http://schemas.microsoft.com/office/drawing/2014/main" val="384258978"/>
                        </a:ext>
                      </a:extLst>
                    </a:gridCol>
                    <a:gridCol w="856607">
                      <a:extLst>
                        <a:ext uri="{9D8B030D-6E8A-4147-A177-3AD203B41FA5}">
                          <a16:colId xmlns:a16="http://schemas.microsoft.com/office/drawing/2014/main" val="2022200994"/>
                        </a:ext>
                      </a:extLst>
                    </a:gridCol>
                  </a:tblGrid>
                  <a:tr h="417068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1449" r="-244156" b="-892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63830" t="-1449" r="-300000" b="-892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63830" t="-1449" r="-200000" b="-892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6429" t="-1449" r="-101429" b="-892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44450" marR="444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63121" t="-1449" r="-709" b="-892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0269429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AGR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50,6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3,6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0,29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4609585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IND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188,1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13,3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0,45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11,0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2772271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SERV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573,9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40,4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effectLst/>
                              <a:highlight>
                                <a:srgbClr val="FFFF00"/>
                              </a:highlight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0,54</a:t>
                          </a:r>
                          <a:endParaRPr lang="pt-BR" sz="1800" kern="100" dirty="0">
                            <a:effectLst/>
                            <a:highlight>
                              <a:srgbClr val="FFFF00"/>
                            </a:highlight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40,5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6131652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PUB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216,9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15,3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EE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0,72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20,2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7554658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APP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290,0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20,4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 dirty="0">
                              <a:effectLst/>
                              <a:highlight>
                                <a:srgbClr val="FFFF00"/>
                              </a:highlight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0,55</a:t>
                          </a:r>
                          <a:endParaRPr lang="pt-BR" sz="1800" kern="100" dirty="0">
                            <a:effectLst/>
                            <a:highlight>
                              <a:srgbClr val="FFFF00"/>
                            </a:highlight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20,7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0532024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DOA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16,2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0,36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0,8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57697326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ALU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36,1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2,5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EE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0,80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3,7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3958112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BPC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13,9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-0,09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-0,2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48689668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PBF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8,3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-0,65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-0,7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4711737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OPS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1,3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00B05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0,09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3067786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RES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24,1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1,7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b="1" kern="0">
                              <a:solidFill>
                                <a:srgbClr val="EE0000"/>
                              </a:solidFill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0,67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2,1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0834946"/>
                      </a:ext>
                    </a:extLst>
                  </a:tr>
                  <a:tr h="3005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TOTAL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1419,4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100,0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0,54</a:t>
                          </a:r>
                          <a:endParaRPr lang="pt-BR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pt-BR" sz="1800" kern="0" dirty="0">
                              <a:effectLst/>
                              <a:latin typeface="Garamond" panose="02020404030301010803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100,0</a:t>
                          </a:r>
                          <a:endParaRPr lang="pt-B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450" marR="4445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83930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754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13421-E233-245D-F87C-6C15FC00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C0DD426-E7FE-8A5E-5837-540828071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6467909-5648-6154-93FF-06EBAF1266C1}"/>
              </a:ext>
            </a:extLst>
          </p:cNvPr>
          <p:cNvSpPr txBox="1">
            <a:spLocks/>
          </p:cNvSpPr>
          <p:nvPr/>
        </p:nvSpPr>
        <p:spPr>
          <a:xfrm>
            <a:off x="911323" y="2547415"/>
            <a:ext cx="10036608" cy="57787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800" dirty="0">
                <a:latin typeface="Garamond" panose="02020404030301010803" pitchFamily="18" charset="0"/>
              </a:rPr>
              <a:t>E sobre a variação da desigualdade?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800FE11-97E9-F9A8-9C95-2F7324F08511}"/>
              </a:ext>
            </a:extLst>
          </p:cNvPr>
          <p:cNvSpPr txBox="1">
            <a:spLocks/>
          </p:cNvSpPr>
          <p:nvPr/>
        </p:nvSpPr>
        <p:spPr>
          <a:xfrm>
            <a:off x="911322" y="3258029"/>
            <a:ext cx="6301240" cy="57787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800" dirty="0">
                <a:latin typeface="Garamond" panose="02020404030301010803" pitchFamily="18" charset="0"/>
              </a:rPr>
              <a:t>Para além da renda ...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2DB517-9994-A574-80A9-EB65BE67719F}"/>
              </a:ext>
            </a:extLst>
          </p:cNvPr>
          <p:cNvSpPr txBox="1">
            <a:spLocks/>
          </p:cNvSpPr>
          <p:nvPr/>
        </p:nvSpPr>
        <p:spPr>
          <a:xfrm>
            <a:off x="911321" y="1495584"/>
            <a:ext cx="10490687" cy="8075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800" dirty="0">
                <a:latin typeface="Garamond" panose="02020404030301010803" pitchFamily="18" charset="0"/>
              </a:rPr>
              <a:t>Por que o índice de Gini e não outra medida qualquer?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C1D8128-8C70-B487-3431-706CA6FB602F}"/>
              </a:ext>
            </a:extLst>
          </p:cNvPr>
          <p:cNvGrpSpPr/>
          <p:nvPr/>
        </p:nvGrpSpPr>
        <p:grpSpPr>
          <a:xfrm>
            <a:off x="838200" y="568847"/>
            <a:ext cx="6002110" cy="491400"/>
            <a:chOff x="0" y="2994437"/>
            <a:chExt cx="6002110" cy="491400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CB1C6DF2-B0C3-B89B-1135-2C2032E2C2C8}"/>
                </a:ext>
              </a:extLst>
            </p:cNvPr>
            <p:cNvSpPr/>
            <p:nvPr/>
          </p:nvSpPr>
          <p:spPr>
            <a:xfrm>
              <a:off x="0" y="2994437"/>
              <a:ext cx="6002110" cy="4914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12152150"/>
                <a:satOff val="-826"/>
                <a:lumOff val="1961"/>
                <a:alphaOff val="0"/>
              </a:schemeClr>
            </a:fillRef>
            <a:effectRef idx="0">
              <a:schemeClr val="accent5">
                <a:hueOff val="-12152150"/>
                <a:satOff val="-826"/>
                <a:lumOff val="1961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tângulo: Cantos Arredondados 4">
              <a:extLst>
                <a:ext uri="{FF2B5EF4-FFF2-40B4-BE49-F238E27FC236}">
                  <a16:creationId xmlns:a16="http://schemas.microsoft.com/office/drawing/2014/main" id="{A1B815FC-24CE-BFBA-D271-7647DC376FDD}"/>
                </a:ext>
              </a:extLst>
            </p:cNvPr>
            <p:cNvSpPr txBox="1"/>
            <p:nvPr/>
          </p:nvSpPr>
          <p:spPr>
            <a:xfrm>
              <a:off x="23988" y="3018425"/>
              <a:ext cx="5954134" cy="4434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i="1" kern="1200" dirty="0"/>
                <a:t>Spoilers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52476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945</Words>
  <Application>Microsoft Office PowerPoint</Application>
  <PresentationFormat>Widescreen</PresentationFormat>
  <Paragraphs>468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Garamond</vt:lpstr>
      <vt:lpstr>Times New Roman</vt:lpstr>
      <vt:lpstr>Tema do Office</vt:lpstr>
      <vt:lpstr> Curvas de Concentração e a  Decomposição da Desigualdade Conforme  Parcelas de Renda</vt:lpstr>
      <vt:lpstr>Plano de aula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Josimar Gonçalves</dc:creator>
  <cp:lastModifiedBy>Josimar Gonçalves</cp:lastModifiedBy>
  <cp:revision>3</cp:revision>
  <dcterms:created xsi:type="dcterms:W3CDTF">2025-12-08T18:24:41Z</dcterms:created>
  <dcterms:modified xsi:type="dcterms:W3CDTF">2025-12-10T11:55:43Z</dcterms:modified>
</cp:coreProperties>
</file>